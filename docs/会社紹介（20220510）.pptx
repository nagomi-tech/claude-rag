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7" r:id="rId2"/>
    <p:sldId id="272" r:id="rId3"/>
    <p:sldId id="262" r:id="rId4"/>
    <p:sldId id="273" r:id="rId5"/>
    <p:sldId id="265" r:id="rId6"/>
    <p:sldId id="274" r:id="rId7"/>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p:restoredTop sz="79888"/>
  </p:normalViewPr>
  <p:slideViewPr>
    <p:cSldViewPr>
      <p:cViewPr>
        <p:scale>
          <a:sx n="100" d="100"/>
          <a:sy n="100" d="100"/>
        </p:scale>
        <p:origin x="2416" y="68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F07408-B3FC-E440-A0B5-2BEB1075C397}" type="datetimeFigureOut">
              <a:rPr kumimoji="1" lang="ja-JP" altLang="en-US" smtClean="0"/>
              <a:t>2022/5/5</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kumimoji="1" lang="ja-JP" altLang="en-US"/>
              <a:t>マスター テキストの書式設定
第 </a:t>
            </a:r>
            <a:r>
              <a:rPr kumimoji="1" lang="en-US" altLang="ja-JP"/>
              <a:t>2 </a:t>
            </a:r>
            <a:r>
              <a:rPr kumimoji="1" lang="ja-JP" altLang="en-US"/>
              <a:t>レベル
第 </a:t>
            </a:r>
            <a:r>
              <a:rPr kumimoji="1" lang="en-US" altLang="ja-JP"/>
              <a:t>3 </a:t>
            </a:r>
            <a:r>
              <a:rPr kumimoji="1" lang="ja-JP" altLang="en-US"/>
              <a:t>レベル
第 </a:t>
            </a:r>
            <a:r>
              <a:rPr kumimoji="1" lang="en-US" altLang="ja-JP"/>
              <a:t>4 </a:t>
            </a:r>
            <a:r>
              <a:rPr kumimoji="1" lang="ja-JP" altLang="en-US"/>
              <a:t>レベル
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0EF6F9-1890-0647-BA95-30B6A980B370}" type="slidenum">
              <a:rPr kumimoji="1" lang="ja-JP" altLang="en-US" smtClean="0"/>
              <a:t>‹#›</a:t>
            </a:fld>
            <a:endParaRPr kumimoji="1" lang="ja-JP" altLang="en-US"/>
          </a:p>
        </p:txBody>
      </p:sp>
    </p:spTree>
    <p:extLst>
      <p:ext uri="{BB962C8B-B14F-4D97-AF65-F5344CB8AC3E}">
        <p14:creationId xmlns:p14="http://schemas.microsoft.com/office/powerpoint/2010/main" val="398812958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3D0EF6F9-1890-0647-BA95-30B6A980B370}" type="slidenum">
              <a:rPr kumimoji="1" lang="ja-JP" altLang="en-US" smtClean="0"/>
              <a:t>1</a:t>
            </a:fld>
            <a:endParaRPr kumimoji="1" lang="ja-JP" altLang="en-US"/>
          </a:p>
        </p:txBody>
      </p:sp>
    </p:spTree>
    <p:extLst>
      <p:ext uri="{BB962C8B-B14F-4D97-AF65-F5344CB8AC3E}">
        <p14:creationId xmlns:p14="http://schemas.microsoft.com/office/powerpoint/2010/main" val="21857410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3D0EF6F9-1890-0647-BA95-30B6A980B370}" type="slidenum">
              <a:rPr kumimoji="1" lang="ja-JP" altLang="en-US" smtClean="0"/>
              <a:t>3</a:t>
            </a:fld>
            <a:endParaRPr kumimoji="1" lang="ja-JP" altLang="en-US"/>
          </a:p>
        </p:txBody>
      </p:sp>
    </p:spTree>
    <p:extLst>
      <p:ext uri="{BB962C8B-B14F-4D97-AF65-F5344CB8AC3E}">
        <p14:creationId xmlns:p14="http://schemas.microsoft.com/office/powerpoint/2010/main" val="28771624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3D0EF6F9-1890-0647-BA95-30B6A980B370}" type="slidenum">
              <a:rPr kumimoji="1" lang="ja-JP" altLang="en-US" smtClean="0"/>
              <a:t>4</a:t>
            </a:fld>
            <a:endParaRPr kumimoji="1" lang="ja-JP" altLang="en-US"/>
          </a:p>
        </p:txBody>
      </p:sp>
    </p:spTree>
    <p:extLst>
      <p:ext uri="{BB962C8B-B14F-4D97-AF65-F5344CB8AC3E}">
        <p14:creationId xmlns:p14="http://schemas.microsoft.com/office/powerpoint/2010/main" val="36096961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3D0EF6F9-1890-0647-BA95-30B6A980B370}" type="slidenum">
              <a:rPr kumimoji="1" lang="ja-JP" altLang="en-US" smtClean="0"/>
              <a:t>6</a:t>
            </a:fld>
            <a:endParaRPr kumimoji="1" lang="ja-JP" altLang="en-US"/>
          </a:p>
        </p:txBody>
      </p:sp>
    </p:spTree>
    <p:extLst>
      <p:ext uri="{BB962C8B-B14F-4D97-AF65-F5344CB8AC3E}">
        <p14:creationId xmlns:p14="http://schemas.microsoft.com/office/powerpoint/2010/main" val="8620161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a:solidFill>
            <a:schemeClr val="tx2">
              <a:lumMod val="60000"/>
              <a:lumOff val="40000"/>
            </a:schemeClr>
          </a:solidFill>
        </p:spPr>
        <p:txBody>
          <a:bodyPr/>
          <a:lstStyle>
            <a:lvl1pPr>
              <a:defRPr>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stStyle>
          <a:p>
            <a:r>
              <a:rPr kumimoji="1" lang="ja-JP" altLang="en-US" dirty="0"/>
              <a:t>マスター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Meiryo UI" panose="020B0604030504040204" pitchFamily="50" charset="-128"/>
                <a:ea typeface="Meiryo UI" panose="020B0604030504040204" pitchFamily="50" charset="-128"/>
                <a:cs typeface="Meiryo UI" panose="020B0604030504040204" pitchFamily="50" charset="-128"/>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F3F6D1DA-B72F-4B30-961D-DCADD9CA70A5}" type="datetimeFigureOut">
              <a:rPr kumimoji="1" lang="ja-JP" altLang="en-US" smtClean="0"/>
              <a:t>2022/5/5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dirty="0"/>
          </a:p>
        </p:txBody>
      </p:sp>
      <p:sp>
        <p:nvSpPr>
          <p:cNvPr id="6" name="スライド番号プレースホルダー 5"/>
          <p:cNvSpPr>
            <a:spLocks noGrp="1"/>
          </p:cNvSpPr>
          <p:nvPr>
            <p:ph type="sldNum" sz="quarter" idx="12"/>
          </p:nvPr>
        </p:nvSpPr>
        <p:spPr/>
        <p:txBody>
          <a:bodyPr/>
          <a:lstStyle/>
          <a:p>
            <a:fld id="{95A290A0-6E02-4BCB-B028-93FDEF85984E}" type="slidenum">
              <a:rPr kumimoji="1" lang="ja-JP" altLang="en-US" smtClean="0"/>
              <a:t>‹#›</a:t>
            </a:fld>
            <a:endParaRPr kumimoji="1" lang="ja-JP" altLang="en-US"/>
          </a:p>
        </p:txBody>
      </p:sp>
    </p:spTree>
    <p:extLst>
      <p:ext uri="{BB962C8B-B14F-4D97-AF65-F5344CB8AC3E}">
        <p14:creationId xmlns:p14="http://schemas.microsoft.com/office/powerpoint/2010/main" val="6310715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0" y="116632"/>
            <a:ext cx="9144000" cy="576064"/>
          </a:xfrm>
          <a:solidFill>
            <a:schemeClr val="tx2">
              <a:lumMod val="60000"/>
              <a:lumOff val="40000"/>
            </a:schemeClr>
          </a:solidFill>
          <a:effectLst>
            <a:outerShdw blurRad="50800" dist="38100" dir="2700000" algn="tl" rotWithShape="0">
              <a:prstClr val="black">
                <a:alpha val="40000"/>
              </a:prstClr>
            </a:outerShdw>
          </a:effectLst>
        </p:spPr>
        <p:txBody>
          <a:bodyPr>
            <a:normAutofit/>
          </a:bodyPr>
          <a:lstStyle>
            <a:lvl1pPr>
              <a:defRPr sz="32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stStyle>
          <a:p>
            <a:r>
              <a:rPr kumimoji="1" lang="ja-JP" altLang="en-US" dirty="0"/>
              <a:t>マスター タイトルの書式設定</a:t>
            </a:r>
          </a:p>
        </p:txBody>
      </p:sp>
      <p:sp>
        <p:nvSpPr>
          <p:cNvPr id="3" name="コンテンツ プレースホルダー 2"/>
          <p:cNvSpPr>
            <a:spLocks noGrp="1"/>
          </p:cNvSpPr>
          <p:nvPr>
            <p:ph idx="1"/>
          </p:nvPr>
        </p:nvSpPr>
        <p:spPr>
          <a:xfrm>
            <a:off x="107504" y="908721"/>
            <a:ext cx="8856984" cy="5184576"/>
          </a:xfrm>
        </p:spPr>
        <p:txBody>
          <a:bodyPr/>
          <a:lstStyle>
            <a:lvl1pPr>
              <a:defRPr>
                <a:latin typeface="Meiryo UI" panose="020B0604030504040204" pitchFamily="50" charset="-128"/>
                <a:ea typeface="Meiryo UI" panose="020B0604030504040204" pitchFamily="50" charset="-128"/>
                <a:cs typeface="Meiryo UI" panose="020B0604030504040204" pitchFamily="50" charset="-128"/>
              </a:defRPr>
            </a:lvl1pPr>
            <a:lvl2pPr>
              <a:defRPr>
                <a:latin typeface="Meiryo UI" panose="020B0604030504040204" pitchFamily="50" charset="-128"/>
                <a:ea typeface="Meiryo UI" panose="020B0604030504040204" pitchFamily="50" charset="-128"/>
                <a:cs typeface="Meiryo UI" panose="020B0604030504040204" pitchFamily="50" charset="-128"/>
              </a:defRPr>
            </a:lvl2pPr>
            <a:lvl3pPr>
              <a:defRPr>
                <a:latin typeface="Meiryo UI" panose="020B0604030504040204" pitchFamily="50" charset="-128"/>
                <a:ea typeface="Meiryo UI" panose="020B0604030504040204" pitchFamily="50" charset="-128"/>
                <a:cs typeface="Meiryo UI" panose="020B0604030504040204" pitchFamily="50" charset="-128"/>
              </a:defRPr>
            </a:lvl3pPr>
            <a:lvl4pPr>
              <a:defRPr>
                <a:latin typeface="Meiryo UI" panose="020B0604030504040204" pitchFamily="50" charset="-128"/>
                <a:ea typeface="Meiryo UI" panose="020B0604030504040204" pitchFamily="50" charset="-128"/>
                <a:cs typeface="Meiryo UI" panose="020B0604030504040204" pitchFamily="50" charset="-128"/>
              </a:defRPr>
            </a:lvl4pPr>
            <a:lvl5pPr>
              <a:defRPr>
                <a:latin typeface="Meiryo UI" panose="020B0604030504040204" pitchFamily="50" charset="-128"/>
                <a:ea typeface="Meiryo UI" panose="020B0604030504040204" pitchFamily="50" charset="-128"/>
                <a:cs typeface="Meiryo UI" panose="020B0604030504040204" pitchFamily="50" charset="-128"/>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p:cNvSpPr>
            <a:spLocks noGrp="1"/>
          </p:cNvSpPr>
          <p:nvPr>
            <p:ph type="dt" sz="half" idx="10"/>
          </p:nvPr>
        </p:nvSpPr>
        <p:spPr/>
        <p:txBody>
          <a:bodyPr/>
          <a:lstStyle/>
          <a:p>
            <a:fld id="{F3F6D1DA-B72F-4B30-961D-DCADD9CA70A5}" type="datetimeFigureOut">
              <a:rPr kumimoji="1" lang="ja-JP" altLang="en-US" smtClean="0"/>
              <a:t>2022/5/5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dirty="0"/>
          </a:p>
        </p:txBody>
      </p:sp>
      <p:sp>
        <p:nvSpPr>
          <p:cNvPr id="6" name="スライド番号プレースホルダー 5"/>
          <p:cNvSpPr>
            <a:spLocks noGrp="1"/>
          </p:cNvSpPr>
          <p:nvPr>
            <p:ph type="sldNum" sz="quarter" idx="12"/>
          </p:nvPr>
        </p:nvSpPr>
        <p:spPr/>
        <p:txBody>
          <a:bodyPr/>
          <a:lstStyle/>
          <a:p>
            <a:fld id="{95A290A0-6E02-4BCB-B028-93FDEF85984E}" type="slidenum">
              <a:rPr kumimoji="1" lang="ja-JP" altLang="en-US" smtClean="0"/>
              <a:t>‹#›</a:t>
            </a:fld>
            <a:endParaRPr kumimoji="1" lang="ja-JP" altLang="en-US"/>
          </a:p>
        </p:txBody>
      </p:sp>
    </p:spTree>
    <p:extLst>
      <p:ext uri="{BB962C8B-B14F-4D97-AF65-F5344CB8AC3E}">
        <p14:creationId xmlns:p14="http://schemas.microsoft.com/office/powerpoint/2010/main" val="6090600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a:solidFill>
            <a:schemeClr val="tx2">
              <a:lumMod val="60000"/>
              <a:lumOff val="40000"/>
            </a:schemeClr>
          </a:solidFill>
        </p:spPr>
        <p:txBody>
          <a:bodyPr anchor="t"/>
          <a:lstStyle>
            <a:lvl1pPr algn="l">
              <a:defRPr sz="4000" b="0" cap="all">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stStyle>
          <a:p>
            <a:r>
              <a:rPr kumimoji="1" lang="ja-JP" altLang="en-US" dirty="0"/>
              <a:t>マスター タイトルの書式設定</a:t>
            </a:r>
          </a:p>
        </p:txBody>
      </p:sp>
      <p:sp>
        <p:nvSpPr>
          <p:cNvPr id="3" name="テキスト プレースホルダー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dirty="0"/>
              <a:t>マスター テキストの書式設定</a:t>
            </a:r>
          </a:p>
        </p:txBody>
      </p:sp>
      <p:sp>
        <p:nvSpPr>
          <p:cNvPr id="4" name="日付プレースホルダー 3"/>
          <p:cNvSpPr>
            <a:spLocks noGrp="1"/>
          </p:cNvSpPr>
          <p:nvPr>
            <p:ph type="dt" sz="half" idx="10"/>
          </p:nvPr>
        </p:nvSpPr>
        <p:spPr/>
        <p:txBody>
          <a:bodyPr/>
          <a:lstStyle/>
          <a:p>
            <a:fld id="{F3F6D1DA-B72F-4B30-961D-DCADD9CA70A5}" type="datetimeFigureOut">
              <a:rPr kumimoji="1" lang="ja-JP" altLang="en-US" smtClean="0"/>
              <a:t>2022/5/5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95A290A0-6E02-4BCB-B028-93FDEF85984E}" type="slidenum">
              <a:rPr kumimoji="1" lang="ja-JP" altLang="en-US" smtClean="0"/>
              <a:t>‹#›</a:t>
            </a:fld>
            <a:endParaRPr kumimoji="1" lang="ja-JP" altLang="en-US"/>
          </a:p>
        </p:txBody>
      </p:sp>
    </p:spTree>
    <p:extLst>
      <p:ext uri="{BB962C8B-B14F-4D97-AF65-F5344CB8AC3E}">
        <p14:creationId xmlns:p14="http://schemas.microsoft.com/office/powerpoint/2010/main" val="33507032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F3F6D1DA-B72F-4B30-961D-DCADD9CA70A5}" type="datetimeFigureOut">
              <a:rPr kumimoji="1" lang="ja-JP" altLang="en-US" smtClean="0"/>
              <a:t>2022/5/5</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95A290A0-6E02-4BCB-B028-93FDEF85984E}" type="slidenum">
              <a:rPr kumimoji="1" lang="ja-JP" altLang="en-US" smtClean="0"/>
              <a:t>‹#›</a:t>
            </a:fld>
            <a:endParaRPr kumimoji="1" lang="ja-JP" altLang="en-US"/>
          </a:p>
        </p:txBody>
      </p:sp>
    </p:spTree>
    <p:extLst>
      <p:ext uri="{BB962C8B-B14F-4D97-AF65-F5344CB8AC3E}">
        <p14:creationId xmlns:p14="http://schemas.microsoft.com/office/powerpoint/2010/main" val="2989869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F3F6D1DA-B72F-4B30-961D-DCADD9CA70A5}" type="datetimeFigureOut">
              <a:rPr kumimoji="1" lang="ja-JP" altLang="en-US" smtClean="0"/>
              <a:t>2022/5/5</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95A290A0-6E02-4BCB-B028-93FDEF85984E}" type="slidenum">
              <a:rPr kumimoji="1" lang="ja-JP" altLang="en-US" smtClean="0"/>
              <a:t>‹#›</a:t>
            </a:fld>
            <a:endParaRPr kumimoji="1" lang="ja-JP" altLang="en-US"/>
          </a:p>
        </p:txBody>
      </p:sp>
    </p:spTree>
    <p:extLst>
      <p:ext uri="{BB962C8B-B14F-4D97-AF65-F5344CB8AC3E}">
        <p14:creationId xmlns:p14="http://schemas.microsoft.com/office/powerpoint/2010/main" val="37758237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F3F6D1DA-B72F-4B30-961D-DCADD9CA70A5}" type="datetimeFigureOut">
              <a:rPr kumimoji="1" lang="ja-JP" altLang="en-US" smtClean="0"/>
              <a:t>2022/5/5</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95A290A0-6E02-4BCB-B028-93FDEF85984E}" type="slidenum">
              <a:rPr kumimoji="1" lang="ja-JP" altLang="en-US" smtClean="0"/>
              <a:t>‹#›</a:t>
            </a:fld>
            <a:endParaRPr kumimoji="1" lang="ja-JP" altLang="en-US"/>
          </a:p>
        </p:txBody>
      </p:sp>
    </p:spTree>
    <p:extLst>
      <p:ext uri="{BB962C8B-B14F-4D97-AF65-F5344CB8AC3E}">
        <p14:creationId xmlns:p14="http://schemas.microsoft.com/office/powerpoint/2010/main" val="19618089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F3F6D1DA-B72F-4B30-961D-DCADD9CA70A5}" type="datetimeFigureOut">
              <a:rPr kumimoji="1" lang="ja-JP" altLang="en-US" smtClean="0"/>
              <a:t>2022/5/5</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95A290A0-6E02-4BCB-B028-93FDEF85984E}" type="slidenum">
              <a:rPr kumimoji="1" lang="ja-JP" altLang="en-US" smtClean="0"/>
              <a:t>‹#›</a:t>
            </a:fld>
            <a:endParaRPr kumimoji="1" lang="ja-JP" altLang="en-US"/>
          </a:p>
        </p:txBody>
      </p:sp>
    </p:spTree>
    <p:extLst>
      <p:ext uri="{BB962C8B-B14F-4D97-AF65-F5344CB8AC3E}">
        <p14:creationId xmlns:p14="http://schemas.microsoft.com/office/powerpoint/2010/main" val="2816682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a:t>マスター タイトルの書式設定</a:t>
            </a:r>
          </a:p>
        </p:txBody>
      </p:sp>
      <p:sp>
        <p:nvSpPr>
          <p:cNvPr id="3" name="コンテンツ プレースホルダー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F3F6D1DA-B72F-4B30-961D-DCADD9CA70A5}" type="datetimeFigureOut">
              <a:rPr kumimoji="1" lang="ja-JP" altLang="en-US" smtClean="0"/>
              <a:t>2022/5/5</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95A290A0-6E02-4BCB-B028-93FDEF85984E}" type="slidenum">
              <a:rPr kumimoji="1" lang="ja-JP" altLang="en-US" smtClean="0"/>
              <a:t>‹#›</a:t>
            </a:fld>
            <a:endParaRPr kumimoji="1" lang="ja-JP" altLang="en-US"/>
          </a:p>
        </p:txBody>
      </p:sp>
    </p:spTree>
    <p:extLst>
      <p:ext uri="{BB962C8B-B14F-4D97-AF65-F5344CB8AC3E}">
        <p14:creationId xmlns:p14="http://schemas.microsoft.com/office/powerpoint/2010/main" val="32514719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a:t>マスター タイトルの書式設定</a:t>
            </a:r>
          </a:p>
        </p:txBody>
      </p:sp>
      <p:sp>
        <p:nvSpPr>
          <p:cNvPr id="3" name="図プレースホルダー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F3F6D1DA-B72F-4B30-961D-DCADD9CA70A5}" type="datetimeFigureOut">
              <a:rPr kumimoji="1" lang="ja-JP" altLang="en-US" smtClean="0"/>
              <a:t>2022/5/5</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95A290A0-6E02-4BCB-B028-93FDEF85984E}" type="slidenum">
              <a:rPr kumimoji="1" lang="ja-JP" altLang="en-US" smtClean="0"/>
              <a:t>‹#›</a:t>
            </a:fld>
            <a:endParaRPr kumimoji="1" lang="ja-JP" altLang="en-US"/>
          </a:p>
        </p:txBody>
      </p:sp>
    </p:spTree>
    <p:extLst>
      <p:ext uri="{BB962C8B-B14F-4D97-AF65-F5344CB8AC3E}">
        <p14:creationId xmlns:p14="http://schemas.microsoft.com/office/powerpoint/2010/main" val="31257276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F3F6D1DA-B72F-4B30-961D-DCADD9CA70A5}" type="datetimeFigureOut">
              <a:rPr kumimoji="1" lang="ja-JP" altLang="en-US" smtClean="0"/>
              <a:t>2022/5/5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95A290A0-6E02-4BCB-B028-93FDEF85984E}" type="slidenum">
              <a:rPr kumimoji="1" lang="ja-JP" altLang="en-US" smtClean="0"/>
              <a:t>‹#›</a:t>
            </a:fld>
            <a:endParaRPr kumimoji="1" lang="ja-JP" altLang="en-US"/>
          </a:p>
        </p:txBody>
      </p:sp>
    </p:spTree>
    <p:extLst>
      <p:ext uri="{BB962C8B-B14F-4D97-AF65-F5344CB8AC3E}">
        <p14:creationId xmlns:p14="http://schemas.microsoft.com/office/powerpoint/2010/main" val="545150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457200" y="274638"/>
            <a:ext cx="6019800" cy="5851525"/>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F3F6D1DA-B72F-4B30-961D-DCADD9CA70A5}" type="datetimeFigureOut">
              <a:rPr kumimoji="1" lang="ja-JP" altLang="en-US" smtClean="0"/>
              <a:t>2022/5/5</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95A290A0-6E02-4BCB-B028-93FDEF85984E}" type="slidenum">
              <a:rPr kumimoji="1" lang="ja-JP" altLang="en-US" smtClean="0"/>
              <a:t>‹#›</a:t>
            </a:fld>
            <a:endParaRPr kumimoji="1" lang="ja-JP" altLang="en-US"/>
          </a:p>
        </p:txBody>
      </p:sp>
    </p:spTree>
    <p:extLst>
      <p:ext uri="{BB962C8B-B14F-4D97-AF65-F5344CB8AC3E}">
        <p14:creationId xmlns:p14="http://schemas.microsoft.com/office/powerpoint/2010/main" val="3203710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F6D1DA-B72F-4B30-961D-DCADD9CA70A5}" type="datetimeFigureOut">
              <a:rPr kumimoji="1" lang="ja-JP" altLang="en-US" smtClean="0"/>
              <a:t>2022/5/5</a:t>
            </a:fld>
            <a:endParaRPr kumimoji="1" lang="ja-JP" altLang="en-US"/>
          </a:p>
        </p:txBody>
      </p:sp>
      <p:sp>
        <p:nvSpPr>
          <p:cNvPr id="5" name="フッター プレースホルダー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A290A0-6E02-4BCB-B028-93FDEF85984E}" type="slidenum">
              <a:rPr kumimoji="1" lang="ja-JP" altLang="en-US" smtClean="0"/>
              <a:t>‹#›</a:t>
            </a:fld>
            <a:endParaRPr kumimoji="1" lang="ja-JP" altLang="en-US"/>
          </a:p>
        </p:txBody>
      </p:sp>
    </p:spTree>
    <p:extLst>
      <p:ext uri="{BB962C8B-B14F-4D97-AF65-F5344CB8AC3E}">
        <p14:creationId xmlns:p14="http://schemas.microsoft.com/office/powerpoint/2010/main" val="13799869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tiff"/></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ctrTitle"/>
          </p:nvPr>
        </p:nvSpPr>
        <p:spPr/>
        <p:txBody>
          <a:bodyPr>
            <a:normAutofit/>
          </a:bodyPr>
          <a:lstStyle/>
          <a:p>
            <a:r>
              <a:rPr kumimoji="1" lang="ja-JP" altLang="en-US" sz="2800"/>
              <a:t>事業紹介</a:t>
            </a:r>
            <a:endParaRPr kumimoji="1" lang="ja-JP" altLang="en-US" sz="2800" dirty="0"/>
          </a:p>
        </p:txBody>
      </p:sp>
      <p:sp>
        <p:nvSpPr>
          <p:cNvPr id="5" name="サブタイトル 4"/>
          <p:cNvSpPr>
            <a:spLocks noGrp="1"/>
          </p:cNvSpPr>
          <p:nvPr>
            <p:ph type="subTitle" idx="1"/>
          </p:nvPr>
        </p:nvSpPr>
        <p:spPr/>
        <p:txBody>
          <a:bodyPr>
            <a:normAutofit/>
          </a:bodyPr>
          <a:lstStyle/>
          <a:p>
            <a:r>
              <a:rPr lang="en-US" altLang="ja-JP" sz="2000" dirty="0"/>
              <a:t>2022</a:t>
            </a:r>
            <a:r>
              <a:rPr lang="ja-JP" altLang="en-US" sz="2000"/>
              <a:t>年</a:t>
            </a:r>
            <a:r>
              <a:rPr lang="en-US" altLang="ja-JP" sz="2000" dirty="0"/>
              <a:t>5</a:t>
            </a:r>
            <a:r>
              <a:rPr lang="ja-JP" altLang="en-US" sz="2000"/>
              <a:t>月</a:t>
            </a:r>
            <a:endParaRPr kumimoji="1" lang="ja-JP" altLang="en-US" sz="2000" dirty="0"/>
          </a:p>
        </p:txBody>
      </p:sp>
      <p:pic>
        <p:nvPicPr>
          <p:cNvPr id="3" name="図 2">
            <a:extLst>
              <a:ext uri="{FF2B5EF4-FFF2-40B4-BE49-F238E27FC236}">
                <a16:creationId xmlns:a16="http://schemas.microsoft.com/office/drawing/2014/main" id="{3EA969C1-454C-214D-AA6B-F452F638AC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34854" y="4412450"/>
            <a:ext cx="1873250" cy="1536700"/>
          </a:xfrm>
          <a:prstGeom prst="rect">
            <a:avLst/>
          </a:prstGeom>
        </p:spPr>
      </p:pic>
    </p:spTree>
    <p:extLst>
      <p:ext uri="{BB962C8B-B14F-4D97-AF65-F5344CB8AC3E}">
        <p14:creationId xmlns:p14="http://schemas.microsoft.com/office/powerpoint/2010/main" val="3513285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08DB305-6188-A348-944A-403D164D59AB}"/>
              </a:ext>
            </a:extLst>
          </p:cNvPr>
          <p:cNvSpPr>
            <a:spLocks noGrp="1"/>
          </p:cNvSpPr>
          <p:nvPr>
            <p:ph type="title"/>
          </p:nvPr>
        </p:nvSpPr>
        <p:spPr/>
        <p:txBody>
          <a:bodyPr>
            <a:normAutofit fontScale="90000"/>
          </a:bodyPr>
          <a:lstStyle/>
          <a:p>
            <a:r>
              <a:rPr lang="ja-JP" altLang="en-US"/>
              <a:t>会社概要</a:t>
            </a:r>
            <a:endParaRPr kumimoji="1" lang="ja-JP" altLang="en-US"/>
          </a:p>
        </p:txBody>
      </p:sp>
      <p:sp>
        <p:nvSpPr>
          <p:cNvPr id="3" name="コンテンツ プレースホルダー 2">
            <a:extLst>
              <a:ext uri="{FF2B5EF4-FFF2-40B4-BE49-F238E27FC236}">
                <a16:creationId xmlns:a16="http://schemas.microsoft.com/office/drawing/2014/main" id="{7C70EF46-33AD-B246-8B54-6E8F936F9DB9}"/>
              </a:ext>
            </a:extLst>
          </p:cNvPr>
          <p:cNvSpPr>
            <a:spLocks noGrp="1"/>
          </p:cNvSpPr>
          <p:nvPr>
            <p:ph idx="1"/>
          </p:nvPr>
        </p:nvSpPr>
        <p:spPr>
          <a:xfrm>
            <a:off x="683568" y="908720"/>
            <a:ext cx="7056784" cy="5688632"/>
          </a:xfrm>
        </p:spPr>
        <p:txBody>
          <a:bodyPr>
            <a:normAutofit/>
          </a:bodyPr>
          <a:lstStyle/>
          <a:p>
            <a:pPr marL="0" indent="0">
              <a:buNone/>
            </a:pPr>
            <a:endParaRPr lang="en-US" altLang="ja-JP" sz="1400" dirty="0"/>
          </a:p>
          <a:p>
            <a:pPr marL="0" indent="0">
              <a:buNone/>
            </a:pPr>
            <a:r>
              <a:rPr lang="ja-JP" altLang="en-US" sz="1400"/>
              <a:t>会社名　　　：株式会社なごみテクノロジー</a:t>
            </a:r>
            <a:endParaRPr lang="en-US" altLang="ja-JP" sz="1400" dirty="0"/>
          </a:p>
          <a:p>
            <a:pPr marL="0" indent="0">
              <a:buNone/>
            </a:pPr>
            <a:r>
              <a:rPr lang="ja-JP" altLang="en-US" sz="1400"/>
              <a:t>資本金　　　：</a:t>
            </a:r>
            <a:r>
              <a:rPr lang="en-US" altLang="ja-JP" sz="1400" dirty="0"/>
              <a:t>300</a:t>
            </a:r>
            <a:r>
              <a:rPr lang="ja-JP" altLang="en-US" sz="1400"/>
              <a:t>万円</a:t>
            </a:r>
            <a:endParaRPr lang="en-US" altLang="ja-JP" sz="1400" dirty="0"/>
          </a:p>
          <a:p>
            <a:pPr marL="0" indent="0">
              <a:buNone/>
            </a:pPr>
            <a:r>
              <a:rPr lang="ja-JP" altLang="en-US" sz="1400"/>
              <a:t>代表取締役：太田　和代</a:t>
            </a:r>
            <a:endParaRPr lang="en-US" altLang="ja-JP" sz="1400" dirty="0"/>
          </a:p>
          <a:p>
            <a:pPr marL="0" indent="0">
              <a:buNone/>
            </a:pPr>
            <a:r>
              <a:rPr lang="ja-JP" altLang="en-US" sz="1400"/>
              <a:t>所在地</a:t>
            </a:r>
            <a:r>
              <a:rPr lang="en-US" altLang="ja-JP" sz="1400" dirty="0"/>
              <a:t>	</a:t>
            </a:r>
            <a:r>
              <a:rPr lang="ja-JP" altLang="en-US" sz="1400"/>
              <a:t>：京都市下京区中堂寺南町</a:t>
            </a:r>
            <a:r>
              <a:rPr lang="en-US" altLang="ja-JP" sz="1400" dirty="0"/>
              <a:t>134</a:t>
            </a:r>
            <a:r>
              <a:rPr lang="ja-JP" altLang="en-US" sz="1400"/>
              <a:t> 京都高度技術研究所８</a:t>
            </a:r>
            <a:r>
              <a:rPr lang="en-US" altLang="ja-JP" sz="1400" dirty="0"/>
              <a:t>F</a:t>
            </a:r>
          </a:p>
          <a:p>
            <a:pPr marL="0" indent="0">
              <a:buNone/>
            </a:pPr>
            <a:r>
              <a:rPr lang="ja-JP" altLang="en-US" sz="1400"/>
              <a:t>ーーーーーーーーーーーーーーーーーーーーーーーーーーーーーーーーーーーーーーーーーーー</a:t>
            </a:r>
            <a:endParaRPr lang="en-US" altLang="ja-JP" sz="1400" dirty="0"/>
          </a:p>
          <a:p>
            <a:pPr marL="0" indent="0">
              <a:buNone/>
            </a:pPr>
            <a:r>
              <a:rPr lang="en-US" altLang="ja-JP" sz="1400" dirty="0"/>
              <a:t>2018</a:t>
            </a:r>
            <a:r>
              <a:rPr lang="ja-JP" altLang="en-US" sz="1400"/>
              <a:t>年</a:t>
            </a:r>
            <a:r>
              <a:rPr lang="en-US" altLang="ja-JP" sz="1400" dirty="0"/>
              <a:t>3</a:t>
            </a:r>
            <a:r>
              <a:rPr lang="ja-JP" altLang="en-US" sz="1400"/>
              <a:t>月　</a:t>
            </a:r>
            <a:r>
              <a:rPr lang="en-US" altLang="ja-JP" sz="1400" dirty="0"/>
              <a:t>	</a:t>
            </a:r>
            <a:r>
              <a:rPr lang="ja-JP" altLang="en-US" sz="1400"/>
              <a:t>株式会社なごみテクノロジー設立　</a:t>
            </a:r>
            <a:endParaRPr lang="en-US" altLang="ja-JP" sz="1400" dirty="0"/>
          </a:p>
          <a:p>
            <a:pPr marL="0" indent="0">
              <a:buNone/>
            </a:pPr>
            <a:r>
              <a:rPr lang="en-US" altLang="ja-JP" sz="1400" dirty="0"/>
              <a:t>			</a:t>
            </a:r>
            <a:r>
              <a:rPr lang="ja-JP" altLang="en-US" sz="1400"/>
              <a:t>シニア向け健康エージェントの開発着手</a:t>
            </a:r>
            <a:endParaRPr lang="en-US" altLang="ja-JP" sz="1400" dirty="0"/>
          </a:p>
          <a:p>
            <a:pPr marL="0" indent="0">
              <a:buNone/>
            </a:pPr>
            <a:r>
              <a:rPr lang="en-US" altLang="ja-JP" sz="1400" dirty="0"/>
              <a:t>2018</a:t>
            </a:r>
            <a:r>
              <a:rPr lang="ja-JP" altLang="en-US" sz="1400"/>
              <a:t>年　　</a:t>
            </a:r>
            <a:r>
              <a:rPr lang="en-US" altLang="ja-JP" sz="1400" dirty="0"/>
              <a:t>		</a:t>
            </a:r>
            <a:r>
              <a:rPr lang="ja-JP" altLang="en-US" sz="1400"/>
              <a:t>京都産業</a:t>
            </a:r>
            <a:r>
              <a:rPr lang="en-US" altLang="ja-JP" sz="1400" dirty="0"/>
              <a:t>21</a:t>
            </a:r>
            <a:r>
              <a:rPr lang="ja-JP" altLang="en-US" sz="1400"/>
              <a:t>　「企業の森・産学の森」推進事業に採択</a:t>
            </a:r>
            <a:endParaRPr lang="en-US" altLang="ja-JP" sz="1400" dirty="0"/>
          </a:p>
          <a:p>
            <a:pPr marL="0" indent="0">
              <a:buNone/>
            </a:pPr>
            <a:r>
              <a:rPr lang="ja-JP" altLang="en-US" sz="1400"/>
              <a:t>　　　　　　　　　</a:t>
            </a:r>
            <a:r>
              <a:rPr lang="en-US" altLang="ja-JP" sz="1400" dirty="0"/>
              <a:t>		</a:t>
            </a:r>
            <a:r>
              <a:rPr lang="ja-JP" altLang="en-US" sz="1400"/>
              <a:t>同志社大学との共同研究開始</a:t>
            </a:r>
            <a:endParaRPr lang="en-US" altLang="ja-JP" sz="1400" dirty="0"/>
          </a:p>
          <a:p>
            <a:pPr marL="0" indent="0">
              <a:buNone/>
            </a:pPr>
            <a:r>
              <a:rPr lang="ja-JP" altLang="en-US" sz="1400"/>
              <a:t>　　　　　　　　　</a:t>
            </a:r>
            <a:r>
              <a:rPr lang="en-US" altLang="ja-JP" sz="1400" dirty="0"/>
              <a:t>		</a:t>
            </a:r>
            <a:r>
              <a:rPr lang="ja-JP" altLang="en-US" sz="1400"/>
              <a:t>実証実験（亀岡元気アップ</a:t>
            </a:r>
            <a:r>
              <a:rPr lang="en-US" altLang="ja-JP" sz="1400" dirty="0"/>
              <a:t>AGE</a:t>
            </a:r>
            <a:r>
              <a:rPr lang="ja-JP" altLang="en-US" sz="1400"/>
              <a:t>プロジェクト様）</a:t>
            </a:r>
            <a:endParaRPr lang="en-US" altLang="ja-JP" sz="1400" dirty="0"/>
          </a:p>
          <a:p>
            <a:pPr marL="0" indent="0">
              <a:buNone/>
            </a:pPr>
            <a:r>
              <a:rPr lang="ja-JP" altLang="en-US" sz="1400"/>
              <a:t>　　　　　　　　　</a:t>
            </a:r>
            <a:r>
              <a:rPr lang="en-US" altLang="ja-JP" sz="1400" dirty="0"/>
              <a:t>		</a:t>
            </a:r>
            <a:r>
              <a:rPr lang="ja-JP" altLang="en-US" sz="1400"/>
              <a:t>実証実験（京都府精華町様）</a:t>
            </a:r>
            <a:endParaRPr lang="en-US" altLang="ja-JP" sz="1400" dirty="0"/>
          </a:p>
          <a:p>
            <a:pPr marL="0" indent="0">
              <a:buNone/>
            </a:pPr>
            <a:r>
              <a:rPr lang="en-US" altLang="ja-JP" sz="1400" dirty="0"/>
              <a:t>2019</a:t>
            </a:r>
            <a:r>
              <a:rPr lang="ja-JP" altLang="en-US" sz="1400"/>
              <a:t>年</a:t>
            </a:r>
            <a:r>
              <a:rPr lang="en-US" altLang="ja-JP" sz="1400" dirty="0"/>
              <a:t>5</a:t>
            </a:r>
            <a:r>
              <a:rPr lang="ja-JP" altLang="en-US" sz="1400"/>
              <a:t>月</a:t>
            </a:r>
            <a:r>
              <a:rPr lang="en-US" altLang="ja-JP" sz="1400" dirty="0"/>
              <a:t>〜</a:t>
            </a:r>
            <a:r>
              <a:rPr lang="ja-JP" altLang="en-US" sz="1400"/>
              <a:t>　　</a:t>
            </a:r>
            <a:r>
              <a:rPr lang="en-US" altLang="ja-JP" sz="1400" dirty="0"/>
              <a:t>	</a:t>
            </a:r>
            <a:r>
              <a:rPr lang="ja-JP" altLang="en-US" sz="1400"/>
              <a:t>日本テレネット株式会社様　京都白川町プロジェクト参画</a:t>
            </a:r>
            <a:endParaRPr lang="en-US" altLang="ja-JP" sz="1400" dirty="0"/>
          </a:p>
          <a:p>
            <a:pPr marL="0" indent="0">
              <a:buNone/>
            </a:pPr>
            <a:r>
              <a:rPr lang="ja-JP" altLang="en-US" sz="1400"/>
              <a:t>　　　　　　　</a:t>
            </a:r>
            <a:r>
              <a:rPr lang="en-US" altLang="ja-JP" sz="1400" dirty="0"/>
              <a:t>		</a:t>
            </a:r>
            <a:r>
              <a:rPr lang="ja-JP" altLang="en-US" sz="1400"/>
              <a:t>スマートシティエキスポ</a:t>
            </a:r>
            <a:r>
              <a:rPr lang="en-US" altLang="ja-JP" sz="1400" dirty="0"/>
              <a:t>2019</a:t>
            </a:r>
            <a:r>
              <a:rPr lang="ja-JP" altLang="en-US" sz="1400"/>
              <a:t> 出展</a:t>
            </a:r>
            <a:endParaRPr lang="en-US" altLang="ja-JP" sz="1400" dirty="0"/>
          </a:p>
          <a:p>
            <a:pPr marL="0" indent="0">
              <a:buNone/>
            </a:pPr>
            <a:r>
              <a:rPr lang="en-US" altLang="ja-JP" sz="1400" dirty="0"/>
              <a:t>	</a:t>
            </a:r>
            <a:r>
              <a:rPr lang="ja-JP" altLang="en-US" sz="1400"/>
              <a:t>　</a:t>
            </a:r>
            <a:r>
              <a:rPr lang="en-US" altLang="ja-JP" sz="1400" dirty="0"/>
              <a:t>		</a:t>
            </a:r>
            <a:r>
              <a:rPr lang="ja-JP" altLang="en-US" sz="1400"/>
              <a:t>シニア向け</a:t>
            </a:r>
            <a:r>
              <a:rPr lang="en-US" altLang="ja-JP" sz="1400" dirty="0"/>
              <a:t>AI</a:t>
            </a:r>
            <a:r>
              <a:rPr lang="ja-JP" altLang="en-US" sz="1400"/>
              <a:t>スピーカーシステム開発・ライセンス提供</a:t>
            </a:r>
            <a:endParaRPr lang="en-US" altLang="ja-JP" sz="1400" dirty="0"/>
          </a:p>
          <a:p>
            <a:pPr marL="0" indent="0">
              <a:buNone/>
            </a:pPr>
            <a:r>
              <a:rPr lang="en-US" altLang="ja-JP" sz="1400" dirty="0"/>
              <a:t>2020</a:t>
            </a:r>
            <a:r>
              <a:rPr lang="ja-JP" altLang="en-US" sz="1400"/>
              <a:t>年</a:t>
            </a:r>
            <a:r>
              <a:rPr lang="en-US" altLang="ja-JP" sz="1400" dirty="0"/>
              <a:t>3</a:t>
            </a:r>
            <a:r>
              <a:rPr lang="ja-JP" altLang="en-US" sz="1400"/>
              <a:t>月　</a:t>
            </a:r>
            <a:r>
              <a:rPr lang="en-US" altLang="ja-JP" sz="1400" dirty="0"/>
              <a:t>	</a:t>
            </a:r>
            <a:r>
              <a:rPr lang="ja-JP" altLang="en-US" sz="1400"/>
              <a:t>京都府スーパーシティ構想　アイデア採択　事業者登録</a:t>
            </a:r>
            <a:endParaRPr lang="en-US" altLang="ja-JP" sz="1400" dirty="0"/>
          </a:p>
          <a:p>
            <a:pPr marL="0" indent="0">
              <a:buNone/>
            </a:pPr>
            <a:r>
              <a:rPr lang="ja-JP" altLang="en-US" sz="1400"/>
              <a:t>ーーーーーーーーーーーーーーーーーーーーーーーーーーーーーーーーーーーーーーーーーーー</a:t>
            </a:r>
            <a:endParaRPr lang="en-US" altLang="ja-JP" sz="1400" dirty="0"/>
          </a:p>
          <a:p>
            <a:pPr marL="0" indent="0">
              <a:buNone/>
            </a:pPr>
            <a:r>
              <a:rPr lang="ja-JP" altLang="en-US" sz="1400"/>
              <a:t>特許登録　：　１件</a:t>
            </a:r>
            <a:endParaRPr lang="en-US" altLang="ja-JP" sz="1400" dirty="0"/>
          </a:p>
          <a:p>
            <a:pPr marL="0" indent="0">
              <a:buNone/>
            </a:pPr>
            <a:r>
              <a:rPr lang="ja-JP" altLang="en-US" sz="1400"/>
              <a:t>ーーーーーーーーーーーーーーーーーーーーーーーーーーーーーーーーーーーーーーーーーーー</a:t>
            </a:r>
            <a:endParaRPr lang="en-US" altLang="ja-JP" sz="1400" dirty="0"/>
          </a:p>
          <a:p>
            <a:endParaRPr lang="en-US" altLang="ja-JP" sz="1400" dirty="0"/>
          </a:p>
        </p:txBody>
      </p:sp>
    </p:spTree>
    <p:extLst>
      <p:ext uri="{BB962C8B-B14F-4D97-AF65-F5344CB8AC3E}">
        <p14:creationId xmlns:p14="http://schemas.microsoft.com/office/powerpoint/2010/main" val="21250650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C949C0-28A6-524E-9C6B-AA64F5CF9986}"/>
              </a:ext>
            </a:extLst>
          </p:cNvPr>
          <p:cNvSpPr>
            <a:spLocks noGrp="1"/>
          </p:cNvSpPr>
          <p:nvPr>
            <p:ph type="title"/>
          </p:nvPr>
        </p:nvSpPr>
        <p:spPr/>
        <p:txBody>
          <a:bodyPr>
            <a:noAutofit/>
          </a:bodyPr>
          <a:lstStyle/>
          <a:p>
            <a:r>
              <a:rPr kumimoji="1" lang="ja-JP" altLang="en-US" sz="2000"/>
              <a:t>開発の動機</a:t>
            </a:r>
          </a:p>
        </p:txBody>
      </p:sp>
      <p:pic>
        <p:nvPicPr>
          <p:cNvPr id="6" name="図 5">
            <a:extLst>
              <a:ext uri="{FF2B5EF4-FFF2-40B4-BE49-F238E27FC236}">
                <a16:creationId xmlns:a16="http://schemas.microsoft.com/office/drawing/2014/main" id="{876B4422-96F5-6841-B077-7E9DCE0091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976" y="1772816"/>
            <a:ext cx="4295728" cy="3312368"/>
          </a:xfrm>
          <a:prstGeom prst="rect">
            <a:avLst/>
          </a:prstGeom>
        </p:spPr>
      </p:pic>
      <p:sp>
        <p:nvSpPr>
          <p:cNvPr id="5" name="テキスト ボックス 4">
            <a:extLst>
              <a:ext uri="{FF2B5EF4-FFF2-40B4-BE49-F238E27FC236}">
                <a16:creationId xmlns:a16="http://schemas.microsoft.com/office/drawing/2014/main" id="{9A026C05-2776-8641-B4EB-6A5CB36A54E6}"/>
              </a:ext>
            </a:extLst>
          </p:cNvPr>
          <p:cNvSpPr txBox="1"/>
          <p:nvPr/>
        </p:nvSpPr>
        <p:spPr>
          <a:xfrm>
            <a:off x="4647548" y="2636912"/>
            <a:ext cx="4295728" cy="246221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400"/>
              <a:t>動物型のぬいぐるみにマイクとスピーカ、</a:t>
            </a:r>
            <a:endParaRPr kumimoji="1" lang="en-US" altLang="ja-JP" sz="1400" dirty="0"/>
          </a:p>
          <a:p>
            <a:r>
              <a:rPr lang="ja-JP" altLang="en-US" sz="1400"/>
              <a:t>通信モジュールを配置。宅内に設置したノート</a:t>
            </a:r>
            <a:r>
              <a:rPr lang="en-US" altLang="ja-JP" sz="1400" dirty="0"/>
              <a:t>PC</a:t>
            </a:r>
            <a:r>
              <a:rPr lang="ja-JP" altLang="en-US" sz="1400"/>
              <a:t>と通信しながら動作。</a:t>
            </a:r>
            <a:endParaRPr lang="en-US" altLang="ja-JP" sz="1400" dirty="0"/>
          </a:p>
          <a:p>
            <a:r>
              <a:rPr lang="ja-JP" altLang="en-US" sz="1400"/>
              <a:t>２号機は首、腕などが動く機構を内蔵</a:t>
            </a:r>
            <a:endParaRPr lang="en-US" altLang="ja-JP" sz="1400" dirty="0"/>
          </a:p>
          <a:p>
            <a:endParaRPr kumimoji="1" lang="en-US" altLang="ja-JP" sz="1400" dirty="0"/>
          </a:p>
          <a:p>
            <a:r>
              <a:rPr lang="ja-JP" altLang="en-US" sz="1400"/>
              <a:t>音声認識は、単語登録型。</a:t>
            </a:r>
            <a:endParaRPr lang="en-US" altLang="ja-JP" sz="1400" dirty="0"/>
          </a:p>
          <a:p>
            <a:r>
              <a:rPr lang="ja-JP" altLang="en-US" sz="1400"/>
              <a:t>認識率は</a:t>
            </a:r>
            <a:r>
              <a:rPr lang="en-US" altLang="ja-JP" sz="1400" dirty="0"/>
              <a:t>40</a:t>
            </a:r>
            <a:r>
              <a:rPr lang="ja-JP" altLang="en-US" sz="1400"/>
              <a:t>％台</a:t>
            </a:r>
            <a:endParaRPr lang="en-US" altLang="ja-JP" sz="1400" dirty="0"/>
          </a:p>
          <a:p>
            <a:endParaRPr kumimoji="1" lang="en-US" altLang="ja-JP" sz="1400" dirty="0"/>
          </a:p>
          <a:p>
            <a:r>
              <a:rPr lang="ja-JP" altLang="en-US" sz="1400"/>
              <a:t>音声合成は使用せず予め録音しておいた音声で応答</a:t>
            </a:r>
            <a:endParaRPr lang="en-US" altLang="ja-JP" sz="1400" dirty="0"/>
          </a:p>
          <a:p>
            <a:endParaRPr lang="en-US" altLang="ja-JP" sz="1400" dirty="0"/>
          </a:p>
          <a:p>
            <a:r>
              <a:rPr lang="ja-JP" altLang="en-US" sz="1400"/>
              <a:t>池田市の独居高齢者宅、介護施設にて実証実験</a:t>
            </a:r>
            <a:endParaRPr lang="en-US" altLang="ja-JP" sz="1400" dirty="0"/>
          </a:p>
        </p:txBody>
      </p:sp>
      <p:pic>
        <p:nvPicPr>
          <p:cNvPr id="4" name="図 3">
            <a:extLst>
              <a:ext uri="{FF2B5EF4-FFF2-40B4-BE49-F238E27FC236}">
                <a16:creationId xmlns:a16="http://schemas.microsoft.com/office/drawing/2014/main" id="{9823CECC-F368-1644-A857-72B61DC8247F}"/>
              </a:ext>
            </a:extLst>
          </p:cNvPr>
          <p:cNvPicPr>
            <a:picLocks noChangeAspect="1"/>
          </p:cNvPicPr>
          <p:nvPr/>
        </p:nvPicPr>
        <p:blipFill>
          <a:blip r:embed="rId4"/>
          <a:stretch>
            <a:fillRect/>
          </a:stretch>
        </p:blipFill>
        <p:spPr>
          <a:xfrm>
            <a:off x="7184073" y="979211"/>
            <a:ext cx="1687193" cy="1414727"/>
          </a:xfrm>
          <a:prstGeom prst="rect">
            <a:avLst/>
          </a:prstGeom>
        </p:spPr>
      </p:pic>
      <p:sp>
        <p:nvSpPr>
          <p:cNvPr id="11" name="テキスト ボックス 10">
            <a:extLst>
              <a:ext uri="{FF2B5EF4-FFF2-40B4-BE49-F238E27FC236}">
                <a16:creationId xmlns:a16="http://schemas.microsoft.com/office/drawing/2014/main" id="{034CB597-65EC-B873-962F-AEE0F7DDB7CD}"/>
              </a:ext>
            </a:extLst>
          </p:cNvPr>
          <p:cNvSpPr txBox="1"/>
          <p:nvPr/>
        </p:nvSpPr>
        <p:spPr>
          <a:xfrm>
            <a:off x="467544" y="5807005"/>
            <a:ext cx="7992888"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ja-JP" altLang="en-US"/>
              <a:t>高齢者の生活、価値観は多種多様</a:t>
            </a:r>
            <a:endParaRPr kumimoji="1" lang="en-US" altLang="ja-JP" dirty="0"/>
          </a:p>
          <a:p>
            <a:r>
              <a:rPr kumimoji="1" lang="ja-JP" altLang="en-US"/>
              <a:t>社会との適切な距離感を持ったサービスが必要</a:t>
            </a:r>
          </a:p>
        </p:txBody>
      </p:sp>
      <p:sp>
        <p:nvSpPr>
          <p:cNvPr id="12" name="正方形/長方形 11">
            <a:extLst>
              <a:ext uri="{FF2B5EF4-FFF2-40B4-BE49-F238E27FC236}">
                <a16:creationId xmlns:a16="http://schemas.microsoft.com/office/drawing/2014/main" id="{45EB6790-88E1-C55A-7A63-784D4C12D884}"/>
              </a:ext>
            </a:extLst>
          </p:cNvPr>
          <p:cNvSpPr/>
          <p:nvPr/>
        </p:nvSpPr>
        <p:spPr>
          <a:xfrm>
            <a:off x="361640" y="939058"/>
            <a:ext cx="6658632" cy="646331"/>
          </a:xfrm>
          <a:prstGeom prst="rect">
            <a:avLst/>
          </a:prstGeom>
        </p:spPr>
        <p:txBody>
          <a:bodyPr wrap="square">
            <a:spAutoFit/>
          </a:bodyPr>
          <a:lstStyle/>
          <a:p>
            <a:r>
              <a:rPr lang="ja-JP" altLang="en-US"/>
              <a:t>独居高齢者支援のための対話ロボット開発（</a:t>
            </a:r>
            <a:r>
              <a:rPr lang="en-US" altLang="ja-JP" dirty="0"/>
              <a:t>1999</a:t>
            </a:r>
            <a:r>
              <a:rPr lang="ja-JP" altLang="en-US"/>
              <a:t>年</a:t>
            </a:r>
            <a:r>
              <a:rPr lang="en-US" altLang="ja-JP" dirty="0"/>
              <a:t>〜2002</a:t>
            </a:r>
            <a:r>
              <a:rPr lang="ja-JP" altLang="en-US"/>
              <a:t>年）＊前職での開発　　　</a:t>
            </a:r>
          </a:p>
        </p:txBody>
      </p:sp>
    </p:spTree>
    <p:extLst>
      <p:ext uri="{BB962C8B-B14F-4D97-AF65-F5344CB8AC3E}">
        <p14:creationId xmlns:p14="http://schemas.microsoft.com/office/powerpoint/2010/main" val="28420395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図 14">
            <a:extLst>
              <a:ext uri="{FF2B5EF4-FFF2-40B4-BE49-F238E27FC236}">
                <a16:creationId xmlns:a16="http://schemas.microsoft.com/office/drawing/2014/main" id="{A91C0615-7505-244D-BDED-C6528DE2CD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6162" y="2472388"/>
            <a:ext cx="687167" cy="1244476"/>
          </a:xfrm>
          <a:prstGeom prst="rect">
            <a:avLst/>
          </a:prstGeom>
        </p:spPr>
      </p:pic>
      <p:sp>
        <p:nvSpPr>
          <p:cNvPr id="3" name="コンテンツ プレースホルダー 2"/>
          <p:cNvSpPr>
            <a:spLocks noGrp="1"/>
          </p:cNvSpPr>
          <p:nvPr>
            <p:ph idx="1"/>
          </p:nvPr>
        </p:nvSpPr>
        <p:spPr>
          <a:xfrm>
            <a:off x="107504" y="836712"/>
            <a:ext cx="8856984" cy="5832648"/>
          </a:xfrm>
        </p:spPr>
        <p:txBody>
          <a:bodyPr>
            <a:noAutofit/>
          </a:bodyPr>
          <a:lstStyle/>
          <a:p>
            <a:pPr marL="0" indent="0">
              <a:lnSpc>
                <a:spcPct val="120000"/>
              </a:lnSpc>
              <a:buNone/>
            </a:pPr>
            <a:r>
              <a:rPr kumimoji="1" lang="ja-JP" altLang="en-US" sz="1400"/>
              <a:t>　</a:t>
            </a:r>
            <a:r>
              <a:rPr kumimoji="1" lang="ja-JP" altLang="en-US" sz="1400">
                <a:solidFill>
                  <a:srgbClr val="FF0000"/>
                </a:solidFill>
              </a:rPr>
              <a:t>自己健康管理</a:t>
            </a:r>
            <a:r>
              <a:rPr kumimoji="1" lang="ja-JP" altLang="en-US" sz="1400"/>
              <a:t>の基本は、血圧や体重を継続的に計測し、認識する</a:t>
            </a:r>
            <a:r>
              <a:rPr lang="ja-JP" altLang="en-US" sz="1400"/>
              <a:t>ことです</a:t>
            </a:r>
            <a:r>
              <a:rPr kumimoji="1" lang="ja-JP" altLang="en-US" sz="1400"/>
              <a:t>。一般的な</a:t>
            </a:r>
            <a:r>
              <a:rPr lang="ja-JP" altLang="en-US" sz="1400"/>
              <a:t>「</a:t>
            </a:r>
            <a:r>
              <a:rPr kumimoji="1" lang="ja-JP" altLang="en-US" sz="1400"/>
              <a:t>健康管理システム」は</a:t>
            </a:r>
            <a:r>
              <a:rPr kumimoji="1" lang="ja-JP" altLang="en-US" sz="1400" dirty="0"/>
              <a:t>、</a:t>
            </a:r>
            <a:r>
              <a:rPr kumimoji="1" lang="en-US" altLang="ja-JP" sz="1400" dirty="0"/>
              <a:t>PC</a:t>
            </a:r>
            <a:r>
              <a:rPr kumimoji="1" lang="ja-JP" altLang="en-US" sz="1400" dirty="0"/>
              <a:t>やスマホを使って血圧や体重などのバイタルデータを入力</a:t>
            </a:r>
            <a:r>
              <a:rPr lang="ja-JP" altLang="en-US" sz="1400"/>
              <a:t>し、グラフなどで可視化することができます。すでに、様々なアプリケーションが</a:t>
            </a:r>
            <a:r>
              <a:rPr kumimoji="1" lang="ja-JP" altLang="en-US" sz="1400"/>
              <a:t>リリースされてはいますが、継続利用の点で課題があり、ポイント付与などのインセンティブが必要となっているのが実情です。</a:t>
            </a:r>
            <a:endParaRPr kumimoji="1" lang="en-US" altLang="ja-JP" sz="1400" dirty="0"/>
          </a:p>
          <a:p>
            <a:pPr marL="0" indent="0">
              <a:lnSpc>
                <a:spcPct val="120000"/>
              </a:lnSpc>
              <a:buNone/>
            </a:pPr>
            <a:r>
              <a:rPr lang="ja-JP" altLang="en-US" sz="1400"/>
              <a:t>　弊社で開発中の健康エージェント（以下、エージェント）は、</a:t>
            </a:r>
            <a:r>
              <a:rPr lang="ja-JP" altLang="en-US" sz="1400">
                <a:solidFill>
                  <a:srgbClr val="FF0000"/>
                </a:solidFill>
              </a:rPr>
              <a:t>音声による自然対話によって継続利用を促し</a:t>
            </a:r>
            <a:r>
              <a:rPr lang="ja-JP" altLang="en-US" sz="1400"/>
              <a:t>、睡眠</a:t>
            </a:r>
            <a:r>
              <a:rPr lang="ja-JP" altLang="en-US" sz="1400" dirty="0"/>
              <a:t>、食欲、排便などの</a:t>
            </a:r>
            <a:r>
              <a:rPr lang="ja-JP" altLang="en-US" sz="1400" dirty="0">
                <a:solidFill>
                  <a:srgbClr val="FF0000"/>
                </a:solidFill>
              </a:rPr>
              <a:t>定性的な健康状態</a:t>
            </a:r>
            <a:r>
              <a:rPr lang="ja-JP" altLang="en-US" sz="1400"/>
              <a:t>を、会話</a:t>
            </a:r>
            <a:r>
              <a:rPr lang="ja-JP" altLang="en-US" sz="1400" dirty="0"/>
              <a:t>によって引き出す</a:t>
            </a:r>
            <a:r>
              <a:rPr lang="ja-JP" altLang="en-US" sz="1400"/>
              <a:t>ものです。</a:t>
            </a:r>
            <a:endParaRPr lang="en-US" altLang="ja-JP" sz="1400" dirty="0"/>
          </a:p>
          <a:p>
            <a:pPr marL="0" indent="0">
              <a:lnSpc>
                <a:spcPct val="120000"/>
              </a:lnSpc>
              <a:buNone/>
            </a:pPr>
            <a:endParaRPr kumimoji="1" lang="en-US" altLang="ja-JP" sz="1400" dirty="0"/>
          </a:p>
          <a:p>
            <a:pPr marL="0" indent="0">
              <a:lnSpc>
                <a:spcPct val="120000"/>
              </a:lnSpc>
              <a:buNone/>
            </a:pPr>
            <a:endParaRPr lang="en-US" altLang="ja-JP" sz="1400" dirty="0"/>
          </a:p>
          <a:p>
            <a:pPr marL="0" indent="0">
              <a:lnSpc>
                <a:spcPct val="120000"/>
              </a:lnSpc>
              <a:buNone/>
            </a:pPr>
            <a:endParaRPr kumimoji="1" lang="en-US" altLang="ja-JP" sz="1400" dirty="0"/>
          </a:p>
          <a:p>
            <a:pPr marL="0" indent="0">
              <a:lnSpc>
                <a:spcPct val="120000"/>
              </a:lnSpc>
              <a:buNone/>
            </a:pPr>
            <a:endParaRPr lang="en-US" altLang="ja-JP" sz="1400" dirty="0"/>
          </a:p>
          <a:p>
            <a:pPr marL="0" indent="0">
              <a:lnSpc>
                <a:spcPct val="120000"/>
              </a:lnSpc>
              <a:buNone/>
            </a:pPr>
            <a:endParaRPr kumimoji="1" lang="en-US" altLang="ja-JP" sz="1400" dirty="0"/>
          </a:p>
          <a:p>
            <a:pPr marL="0" indent="0">
              <a:lnSpc>
                <a:spcPct val="120000"/>
              </a:lnSpc>
              <a:buNone/>
            </a:pPr>
            <a:endParaRPr lang="en-US" altLang="ja-JP" sz="1400" dirty="0"/>
          </a:p>
          <a:p>
            <a:pPr marL="0" indent="0">
              <a:lnSpc>
                <a:spcPct val="120000"/>
              </a:lnSpc>
              <a:buNone/>
            </a:pPr>
            <a:endParaRPr lang="en-US" altLang="ja-JP" sz="1400" dirty="0"/>
          </a:p>
          <a:p>
            <a:pPr marL="0" indent="0">
              <a:lnSpc>
                <a:spcPct val="120000"/>
              </a:lnSpc>
              <a:buNone/>
            </a:pPr>
            <a:endParaRPr lang="en-US" altLang="ja-JP" sz="1400" dirty="0"/>
          </a:p>
          <a:p>
            <a:pPr marL="0" indent="0">
              <a:lnSpc>
                <a:spcPct val="120000"/>
              </a:lnSpc>
              <a:buNone/>
            </a:pPr>
            <a:r>
              <a:rPr lang="ja-JP" altLang="en-US" sz="1400"/>
              <a:t>特徴と期待</a:t>
            </a:r>
            <a:r>
              <a:rPr lang="ja-JP" altLang="en-US" sz="1400" dirty="0"/>
              <a:t>する効果</a:t>
            </a:r>
            <a:endParaRPr lang="en-US" altLang="ja-JP" sz="1400" dirty="0"/>
          </a:p>
          <a:p>
            <a:pPr marL="0" indent="0">
              <a:lnSpc>
                <a:spcPct val="120000"/>
              </a:lnSpc>
              <a:buNone/>
            </a:pPr>
            <a:r>
              <a:rPr lang="ja-JP" altLang="en-US" sz="1400" dirty="0"/>
              <a:t>①　従来のシステムでは</a:t>
            </a:r>
            <a:r>
              <a:rPr lang="ja-JP" altLang="en-US" sz="1400"/>
              <a:t>管理しにくい定性的な健康</a:t>
            </a:r>
            <a:r>
              <a:rPr lang="ja-JP" altLang="en-US" sz="1400" dirty="0"/>
              <a:t>状態を、自然な質問から判断する。</a:t>
            </a:r>
            <a:endParaRPr lang="en-US" altLang="ja-JP" sz="1400" dirty="0"/>
          </a:p>
          <a:p>
            <a:pPr marL="0" indent="0">
              <a:lnSpc>
                <a:spcPct val="120000"/>
              </a:lnSpc>
              <a:buNone/>
            </a:pPr>
            <a:r>
              <a:rPr lang="ja-JP" altLang="en-US" sz="1400" dirty="0"/>
              <a:t>②　</a:t>
            </a:r>
            <a:r>
              <a:rPr lang="en-US" altLang="ja-JP" sz="1400" dirty="0"/>
              <a:t>AI</a:t>
            </a:r>
            <a:r>
              <a:rPr lang="ja-JP" altLang="en-US" sz="1400" dirty="0"/>
              <a:t>スピーカーを活用することで、</a:t>
            </a:r>
            <a:r>
              <a:rPr lang="ja-JP" altLang="en-US" sz="1400"/>
              <a:t>入力時（起動）の</a:t>
            </a:r>
            <a:r>
              <a:rPr lang="ja-JP" altLang="en-US" sz="1400" dirty="0"/>
              <a:t>手間を減らすことができる。</a:t>
            </a:r>
            <a:endParaRPr lang="en-US" altLang="ja-JP" sz="1400" dirty="0"/>
          </a:p>
          <a:p>
            <a:pPr marL="0" indent="0">
              <a:lnSpc>
                <a:spcPct val="120000"/>
              </a:lnSpc>
              <a:buNone/>
            </a:pPr>
            <a:r>
              <a:rPr lang="ja-JP" altLang="en-US" sz="1400" dirty="0"/>
              <a:t>③　発話回数や、発話時間なども、バイタルデータとしてとらえる。</a:t>
            </a:r>
            <a:endParaRPr lang="en-US" altLang="ja-JP" sz="1400" dirty="0"/>
          </a:p>
          <a:p>
            <a:pPr marL="0" indent="0">
              <a:lnSpc>
                <a:spcPct val="120000"/>
              </a:lnSpc>
              <a:buNone/>
            </a:pPr>
            <a:r>
              <a:rPr lang="ja-JP" altLang="en-US" sz="1400" dirty="0"/>
              <a:t>④　一人暮らしの方にとっては、発話の機会を増やすことができる。</a:t>
            </a:r>
            <a:endParaRPr lang="en-US" altLang="ja-JP" sz="1400" dirty="0"/>
          </a:p>
          <a:p>
            <a:pPr marL="0" indent="0">
              <a:lnSpc>
                <a:spcPct val="120000"/>
              </a:lnSpc>
              <a:buNone/>
            </a:pPr>
            <a:r>
              <a:rPr lang="ja-JP" altLang="en-US" sz="1400" dirty="0"/>
              <a:t>⑤　従来のシステムではデータ数が限られている（基本的に、</a:t>
            </a:r>
            <a:r>
              <a:rPr lang="en-US" altLang="ja-JP" sz="1400" dirty="0"/>
              <a:t>1</a:t>
            </a:r>
            <a:r>
              <a:rPr lang="ja-JP" altLang="en-US" sz="1400" dirty="0"/>
              <a:t>日１データ）が、発話データを加味する事で、データ解析の可能性が広がる。</a:t>
            </a:r>
            <a:endParaRPr kumimoji="1" lang="en-US" altLang="ja-JP" sz="1400" dirty="0"/>
          </a:p>
        </p:txBody>
      </p:sp>
      <p:sp>
        <p:nvSpPr>
          <p:cNvPr id="2" name="タイトル 1"/>
          <p:cNvSpPr>
            <a:spLocks noGrp="1"/>
          </p:cNvSpPr>
          <p:nvPr>
            <p:ph type="title"/>
          </p:nvPr>
        </p:nvSpPr>
        <p:spPr/>
        <p:txBody>
          <a:bodyPr>
            <a:normAutofit fontScale="90000"/>
          </a:bodyPr>
          <a:lstStyle/>
          <a:p>
            <a:r>
              <a:rPr lang="ja-JP" altLang="en-US"/>
              <a:t>当社が目指す「健康エージェント</a:t>
            </a:r>
            <a:r>
              <a:rPr kumimoji="1" lang="ja-JP" altLang="en-US"/>
              <a:t>」</a:t>
            </a:r>
            <a:endParaRPr kumimoji="1" lang="ja-JP" altLang="en-US" dirty="0"/>
          </a:p>
        </p:txBody>
      </p:sp>
      <p:grpSp>
        <p:nvGrpSpPr>
          <p:cNvPr id="4" name="グループ化 3">
            <a:extLst>
              <a:ext uri="{FF2B5EF4-FFF2-40B4-BE49-F238E27FC236}">
                <a16:creationId xmlns:a16="http://schemas.microsoft.com/office/drawing/2014/main" id="{010DF3B7-210B-C046-B09C-54F151CBD2DB}"/>
              </a:ext>
            </a:extLst>
          </p:cNvPr>
          <p:cNvGrpSpPr/>
          <p:nvPr/>
        </p:nvGrpSpPr>
        <p:grpSpPr>
          <a:xfrm>
            <a:off x="190045" y="2348880"/>
            <a:ext cx="8028767" cy="2397948"/>
            <a:chOff x="287649" y="2328204"/>
            <a:chExt cx="8028767" cy="2397948"/>
          </a:xfrm>
        </p:grpSpPr>
        <p:sp>
          <p:nvSpPr>
            <p:cNvPr id="20" name="フローチャート : 和接合 19"/>
            <p:cNvSpPr/>
            <p:nvPr/>
          </p:nvSpPr>
          <p:spPr>
            <a:xfrm>
              <a:off x="4403077" y="2410847"/>
              <a:ext cx="3913339" cy="2007528"/>
            </a:xfrm>
            <a:prstGeom prst="flowChartSummingJunction">
              <a:avLst/>
            </a:prstGeom>
            <a:no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7" name="角丸四角形吹き出し 6"/>
            <p:cNvSpPr/>
            <p:nvPr/>
          </p:nvSpPr>
          <p:spPr>
            <a:xfrm>
              <a:off x="1477152" y="2641987"/>
              <a:ext cx="1224136" cy="252028"/>
            </a:xfrm>
            <a:prstGeom prst="wedgeRoundRectCallout">
              <a:avLst>
                <a:gd name="adj1" fmla="val -37867"/>
                <a:gd name="adj2" fmla="val 73562"/>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00" dirty="0">
                  <a:solidFill>
                    <a:schemeClr val="tx1"/>
                  </a:solidFill>
                </a:rPr>
                <a:t>おはよう</a:t>
              </a:r>
            </a:p>
          </p:txBody>
        </p:sp>
        <p:sp>
          <p:nvSpPr>
            <p:cNvPr id="8" name="角丸四角形吹き出し 7"/>
            <p:cNvSpPr/>
            <p:nvPr/>
          </p:nvSpPr>
          <p:spPr>
            <a:xfrm>
              <a:off x="2089220" y="2995826"/>
              <a:ext cx="1455432" cy="504056"/>
            </a:xfrm>
            <a:prstGeom prst="wedgeRoundRectCallout">
              <a:avLst>
                <a:gd name="adj1" fmla="val 35920"/>
                <a:gd name="adj2" fmla="val 75774"/>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00" dirty="0">
                  <a:solidFill>
                    <a:schemeClr val="tx1"/>
                  </a:solidFill>
                </a:rPr>
                <a:t>おはようございます。</a:t>
              </a:r>
              <a:endParaRPr kumimoji="1" lang="en-US" altLang="ja-JP" sz="1000" dirty="0">
                <a:solidFill>
                  <a:schemeClr val="tx1"/>
                </a:solidFill>
              </a:endParaRPr>
            </a:p>
            <a:p>
              <a:r>
                <a:rPr lang="ja-JP" altLang="en-US" sz="1000">
                  <a:solidFill>
                    <a:schemeClr val="tx1"/>
                  </a:solidFill>
                </a:rPr>
                <a:t>昨晩はよく</a:t>
              </a:r>
              <a:r>
                <a:rPr lang="ja-JP" altLang="en-US" sz="1000" dirty="0">
                  <a:solidFill>
                    <a:schemeClr val="tx1"/>
                  </a:solidFill>
                </a:rPr>
                <a:t>眠れましたか？</a:t>
              </a:r>
              <a:endParaRPr kumimoji="1" lang="ja-JP" altLang="en-US" sz="1000" dirty="0">
                <a:solidFill>
                  <a:schemeClr val="tx1"/>
                </a:solidFill>
              </a:endParaRPr>
            </a:p>
          </p:txBody>
        </p:sp>
        <p:sp>
          <p:nvSpPr>
            <p:cNvPr id="9" name="角丸四角形吹き出し 8"/>
            <p:cNvSpPr/>
            <p:nvPr/>
          </p:nvSpPr>
          <p:spPr>
            <a:xfrm>
              <a:off x="1621094" y="3591018"/>
              <a:ext cx="1224136" cy="252028"/>
            </a:xfrm>
            <a:prstGeom prst="wedgeRoundRectCallout">
              <a:avLst>
                <a:gd name="adj1" fmla="val -37867"/>
                <a:gd name="adj2" fmla="val 73562"/>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00" dirty="0">
                  <a:solidFill>
                    <a:schemeClr val="tx1"/>
                  </a:solidFill>
                </a:rPr>
                <a:t>ぐっすり。</a:t>
              </a:r>
            </a:p>
          </p:txBody>
        </p:sp>
        <p:sp>
          <p:nvSpPr>
            <p:cNvPr id="11" name="円柱 10"/>
            <p:cNvSpPr/>
            <p:nvPr/>
          </p:nvSpPr>
          <p:spPr>
            <a:xfrm>
              <a:off x="3707904" y="3100399"/>
              <a:ext cx="360040" cy="544625"/>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p:cNvSpPr txBox="1"/>
            <p:nvPr/>
          </p:nvSpPr>
          <p:spPr>
            <a:xfrm>
              <a:off x="424386" y="3933056"/>
              <a:ext cx="723275" cy="307777"/>
            </a:xfrm>
            <a:prstGeom prst="rect">
              <a:avLst/>
            </a:prstGeom>
            <a:noFill/>
          </p:spPr>
          <p:txBody>
            <a:bodyPr wrap="none" rtlCol="0">
              <a:spAutoFit/>
            </a:bodyPr>
            <a:lstStyle/>
            <a:p>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利用者</a:t>
              </a:r>
            </a:p>
          </p:txBody>
        </p:sp>
        <p:sp>
          <p:nvSpPr>
            <p:cNvPr id="13" name="テキスト ボックス 12"/>
            <p:cNvSpPr txBox="1"/>
            <p:nvPr/>
          </p:nvSpPr>
          <p:spPr>
            <a:xfrm>
              <a:off x="3353162" y="3869045"/>
              <a:ext cx="1069524" cy="307777"/>
            </a:xfrm>
            <a:prstGeom prst="rect">
              <a:avLst/>
            </a:prstGeom>
            <a:noFill/>
          </p:spPr>
          <p:txBody>
            <a:bodyPr wrap="none" rtlCol="0">
              <a:spAutoFit/>
            </a:bodyPr>
            <a:lstStyle/>
            <a:p>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AI</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スピーカー</a:t>
              </a:r>
            </a:p>
          </p:txBody>
        </p:sp>
        <p:sp>
          <p:nvSpPr>
            <p:cNvPr id="14" name="角丸四角形 13"/>
            <p:cNvSpPr/>
            <p:nvPr/>
          </p:nvSpPr>
          <p:spPr>
            <a:xfrm>
              <a:off x="4422686" y="3149902"/>
              <a:ext cx="1157426" cy="379784"/>
            </a:xfrm>
            <a:prstGeom prst="roundRect">
              <a:avLst/>
            </a:prstGeom>
            <a:gradFill>
              <a:gsLst>
                <a:gs pos="0">
                  <a:schemeClr val="accent5">
                    <a:tint val="50000"/>
                    <a:satMod val="300000"/>
                  </a:schemeClr>
                </a:gs>
                <a:gs pos="30000">
                  <a:schemeClr val="accent5">
                    <a:tint val="37000"/>
                    <a:satMod val="300000"/>
                  </a:schemeClr>
                </a:gs>
                <a:gs pos="100000">
                  <a:schemeClr val="accent5">
                    <a:tint val="15000"/>
                    <a:satMod val="350000"/>
                  </a:schemeClr>
                </a:gs>
              </a:gsLst>
            </a:gradFill>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ja-JP" altLang="en-US" sz="1400"/>
                <a:t>会話サーバ</a:t>
              </a:r>
            </a:p>
          </p:txBody>
        </p:sp>
        <p:sp>
          <p:nvSpPr>
            <p:cNvPr id="16" name="角丸四角形 15"/>
            <p:cNvSpPr/>
            <p:nvPr/>
          </p:nvSpPr>
          <p:spPr>
            <a:xfrm>
              <a:off x="6961796" y="3167904"/>
              <a:ext cx="1296144" cy="423114"/>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a:p>
          </p:txBody>
        </p:sp>
        <p:sp>
          <p:nvSpPr>
            <p:cNvPr id="17" name="角丸四角形 16"/>
            <p:cNvSpPr/>
            <p:nvPr/>
          </p:nvSpPr>
          <p:spPr>
            <a:xfrm>
              <a:off x="5758540" y="3803187"/>
              <a:ext cx="1203256" cy="392424"/>
            </a:xfrm>
            <a:prstGeom prst="roundRect">
              <a:avLst/>
            </a:prstGeom>
            <a:ln w="28575"/>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sz="1400"/>
            </a:p>
          </p:txBody>
        </p:sp>
        <p:sp>
          <p:nvSpPr>
            <p:cNvPr id="19" name="テキスト ボックス 18"/>
            <p:cNvSpPr txBox="1"/>
            <p:nvPr/>
          </p:nvSpPr>
          <p:spPr>
            <a:xfrm>
              <a:off x="5826131" y="3887834"/>
              <a:ext cx="987770" cy="307777"/>
            </a:xfrm>
            <a:prstGeom prst="rect">
              <a:avLst/>
            </a:prstGeom>
            <a:noFill/>
          </p:spPr>
          <p:txBody>
            <a:bodyPr wrap="none" rtlCol="0">
              <a:spAutoFit/>
            </a:bodyPr>
            <a:lstStyle/>
            <a:p>
              <a:pPr algn="ctr"/>
              <a:r>
                <a:rPr kumimoji="1" lang="ja-JP" altLang="en-US" sz="1400">
                  <a:latin typeface="Meiryo UI" panose="020B0604030504040204" pitchFamily="50" charset="-128"/>
                  <a:ea typeface="Meiryo UI" panose="020B0604030504040204" pitchFamily="50" charset="-128"/>
                  <a:cs typeface="Meiryo UI" panose="020B0604030504040204" pitchFamily="50" charset="-128"/>
                </a:rPr>
                <a:t>解析</a:t>
              </a:r>
              <a:r>
                <a:rPr lang="ja-JP" altLang="en-US" sz="1400">
                  <a:latin typeface="Meiryo UI" panose="020B0604030504040204" pitchFamily="50" charset="-128"/>
                  <a:ea typeface="Meiryo UI" panose="020B0604030504040204" pitchFamily="50" charset="-128"/>
                  <a:cs typeface="Meiryo UI" panose="020B0604030504040204" pitchFamily="50" charset="-128"/>
                </a:rPr>
                <a:t>サーバ</a:t>
              </a:r>
              <a:endParaRPr lang="en-US" altLang="ja-JP" sz="14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2" name="テキスト ボックス 21"/>
            <p:cNvSpPr txBox="1"/>
            <p:nvPr/>
          </p:nvSpPr>
          <p:spPr>
            <a:xfrm>
              <a:off x="6914004" y="3239911"/>
              <a:ext cx="1346844" cy="307777"/>
            </a:xfrm>
            <a:prstGeom prst="rect">
              <a:avLst/>
            </a:prstGeom>
            <a:noFill/>
          </p:spPr>
          <p:txBody>
            <a:bodyPr wrap="square" rtlCol="0">
              <a:spAutoFit/>
            </a:bodyPr>
            <a:lstStyle/>
            <a:p>
              <a:r>
                <a:rPr lang="ja-JP" altLang="en-US" sz="1400">
                  <a:latin typeface="Meiryo UI" panose="020B0604030504040204" pitchFamily="50" charset="-128"/>
                  <a:ea typeface="Meiryo UI" panose="020B0604030504040204" pitchFamily="50" charset="-128"/>
                  <a:cs typeface="Meiryo UI" panose="020B0604030504040204" pitchFamily="50" charset="-128"/>
                </a:rPr>
                <a:t>健康</a:t>
              </a:r>
              <a:r>
                <a:rPr kumimoji="1" lang="ja-JP" altLang="en-US" sz="1400">
                  <a:latin typeface="Meiryo UI" panose="020B0604030504040204" pitchFamily="50" charset="-128"/>
                  <a:ea typeface="Meiryo UI" panose="020B0604030504040204" pitchFamily="50" charset="-128"/>
                  <a:cs typeface="Meiryo UI" panose="020B0604030504040204" pitchFamily="50" charset="-128"/>
                </a:rPr>
                <a:t>管理サーバ</a:t>
              </a:r>
              <a:endParaRPr kumimoji="1" lang="ja-JP" altLang="en-US" sz="1400" dirty="0">
                <a:latin typeface="Meiryo UI" panose="020B0604030504040204" pitchFamily="50" charset="-128"/>
                <a:ea typeface="Meiryo UI" panose="020B0604030504040204" pitchFamily="50" charset="-128"/>
                <a:cs typeface="Meiryo UI" panose="020B0604030504040204" pitchFamily="50" charset="-128"/>
              </a:endParaRPr>
            </a:p>
          </p:txBody>
        </p:sp>
        <p:pic>
          <p:nvPicPr>
            <p:cNvPr id="10" name="図 9">
              <a:extLst>
                <a:ext uri="{FF2B5EF4-FFF2-40B4-BE49-F238E27FC236}">
                  <a16:creationId xmlns:a16="http://schemas.microsoft.com/office/drawing/2014/main" id="{0031B1C6-08B8-2842-B361-37E2119313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7649" y="2328204"/>
              <a:ext cx="955354" cy="1532844"/>
            </a:xfrm>
            <a:prstGeom prst="rect">
              <a:avLst/>
            </a:prstGeom>
          </p:spPr>
        </p:pic>
        <p:sp>
          <p:nvSpPr>
            <p:cNvPr id="29" name="テキスト ボックス 28">
              <a:extLst>
                <a:ext uri="{FF2B5EF4-FFF2-40B4-BE49-F238E27FC236}">
                  <a16:creationId xmlns:a16="http://schemas.microsoft.com/office/drawing/2014/main" id="{6A27FB5F-9A19-3841-96EC-270F846E8029}"/>
                </a:ext>
              </a:extLst>
            </p:cNvPr>
            <p:cNvSpPr txBox="1"/>
            <p:nvPr/>
          </p:nvSpPr>
          <p:spPr>
            <a:xfrm>
              <a:off x="5830288" y="4418375"/>
              <a:ext cx="1342034" cy="307777"/>
            </a:xfrm>
            <a:prstGeom prst="rect">
              <a:avLst/>
            </a:prstGeom>
            <a:noFill/>
          </p:spPr>
          <p:txBody>
            <a:bodyPr wrap="none" rtlCol="0">
              <a:spAutoFit/>
            </a:bodyPr>
            <a:lstStyle/>
            <a:p>
              <a:r>
                <a:rPr kumimoji="1" lang="ja-JP" altLang="en-US" sz="1400">
                  <a:latin typeface="Meiryo UI" panose="020B0604030504040204" pitchFamily="50" charset="-128"/>
                  <a:ea typeface="Meiryo UI" panose="020B0604030504040204" pitchFamily="50" charset="-128"/>
                  <a:cs typeface="Meiryo UI" panose="020B0604030504040204" pitchFamily="50" charset="-128"/>
                </a:rPr>
                <a:t>健康エージェント</a:t>
              </a:r>
              <a:endParaRPr kumimoji="1" lang="ja-JP" altLang="en-US" sz="1400" dirty="0">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5" name="テキスト ボックス 4">
            <a:extLst>
              <a:ext uri="{FF2B5EF4-FFF2-40B4-BE49-F238E27FC236}">
                <a16:creationId xmlns:a16="http://schemas.microsoft.com/office/drawing/2014/main" id="{A71F7B98-F696-4F46-A0CD-07FE89C78265}"/>
              </a:ext>
            </a:extLst>
          </p:cNvPr>
          <p:cNvSpPr txBox="1"/>
          <p:nvPr/>
        </p:nvSpPr>
        <p:spPr>
          <a:xfrm>
            <a:off x="7721754" y="255211"/>
            <a:ext cx="1107996"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kumimoji="1" lang="ja-JP" altLang="en-US">
                <a:solidFill>
                  <a:srgbClr val="FF0000"/>
                </a:solidFill>
              </a:rPr>
              <a:t>創業時点</a:t>
            </a:r>
          </a:p>
        </p:txBody>
      </p:sp>
    </p:spTree>
    <p:extLst>
      <p:ext uri="{BB962C8B-B14F-4D97-AF65-F5344CB8AC3E}">
        <p14:creationId xmlns:p14="http://schemas.microsoft.com/office/powerpoint/2010/main" val="42563940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 17">
            <a:extLst>
              <a:ext uri="{FF2B5EF4-FFF2-40B4-BE49-F238E27FC236}">
                <a16:creationId xmlns:a16="http://schemas.microsoft.com/office/drawing/2014/main" id="{4E9C613F-C0F5-BB96-A332-1B83DBFA47E4}"/>
              </a:ext>
            </a:extLst>
          </p:cNvPr>
          <p:cNvGraphicFramePr>
            <a:graphicFrameLocks noGrp="1"/>
          </p:cNvGraphicFramePr>
          <p:nvPr>
            <p:ph idx="1"/>
            <p:extLst>
              <p:ext uri="{D42A27DB-BD31-4B8C-83A1-F6EECF244321}">
                <p14:modId xmlns:p14="http://schemas.microsoft.com/office/powerpoint/2010/main" val="3979130025"/>
              </p:ext>
            </p:extLst>
          </p:nvPr>
        </p:nvGraphicFramePr>
        <p:xfrm>
          <a:off x="461490" y="2095688"/>
          <a:ext cx="8242409" cy="3479830"/>
        </p:xfrm>
        <a:graphic>
          <a:graphicData uri="http://schemas.openxmlformats.org/drawingml/2006/table">
            <a:tbl>
              <a:tblPr firstRow="1" bandRow="1">
                <a:tableStyleId>{5C22544A-7EE6-4342-B048-85BDC9FD1C3A}</a:tableStyleId>
              </a:tblPr>
              <a:tblGrid>
                <a:gridCol w="1367488">
                  <a:extLst>
                    <a:ext uri="{9D8B030D-6E8A-4147-A177-3AD203B41FA5}">
                      <a16:colId xmlns:a16="http://schemas.microsoft.com/office/drawing/2014/main" val="2334064555"/>
                    </a:ext>
                  </a:extLst>
                </a:gridCol>
                <a:gridCol w="3540027">
                  <a:extLst>
                    <a:ext uri="{9D8B030D-6E8A-4147-A177-3AD203B41FA5}">
                      <a16:colId xmlns:a16="http://schemas.microsoft.com/office/drawing/2014/main" val="916923163"/>
                    </a:ext>
                  </a:extLst>
                </a:gridCol>
                <a:gridCol w="3334894">
                  <a:extLst>
                    <a:ext uri="{9D8B030D-6E8A-4147-A177-3AD203B41FA5}">
                      <a16:colId xmlns:a16="http://schemas.microsoft.com/office/drawing/2014/main" val="1190353111"/>
                    </a:ext>
                  </a:extLst>
                </a:gridCol>
              </a:tblGrid>
              <a:tr h="360710">
                <a:tc>
                  <a:txBody>
                    <a:bodyPr/>
                    <a:lstStyle/>
                    <a:p>
                      <a:endParaRPr kumimoji="1" lang="ja-JP" altLang="en-US" sz="1200"/>
                    </a:p>
                  </a:txBody>
                  <a:tcPr/>
                </a:tc>
                <a:tc>
                  <a:txBody>
                    <a:bodyPr/>
                    <a:lstStyle/>
                    <a:p>
                      <a:r>
                        <a:rPr kumimoji="1" lang="ja-JP" altLang="en-US" sz="1200"/>
                        <a:t>ビジネスチャットボット</a:t>
                      </a:r>
                    </a:p>
                  </a:txBody>
                  <a:tcPr/>
                </a:tc>
                <a:tc>
                  <a:txBody>
                    <a:bodyPr/>
                    <a:lstStyle/>
                    <a:p>
                      <a:r>
                        <a:rPr kumimoji="1" lang="ja-JP" altLang="en-US" sz="1200"/>
                        <a:t>当社が目指すもの</a:t>
                      </a:r>
                    </a:p>
                  </a:txBody>
                  <a:tcPr/>
                </a:tc>
                <a:extLst>
                  <a:ext uri="{0D108BD9-81ED-4DB2-BD59-A6C34878D82A}">
                    <a16:rowId xmlns:a16="http://schemas.microsoft.com/office/drawing/2014/main" val="2895055733"/>
                  </a:ext>
                </a:extLst>
              </a:tr>
              <a:tr h="370840">
                <a:tc>
                  <a:txBody>
                    <a:bodyPr/>
                    <a:lstStyle/>
                    <a:p>
                      <a:r>
                        <a:rPr kumimoji="1" lang="ja-JP" altLang="en-US" sz="1200"/>
                        <a:t>対象者</a:t>
                      </a:r>
                    </a:p>
                  </a:txBody>
                  <a:tcPr/>
                </a:tc>
                <a:tc>
                  <a:txBody>
                    <a:bodyPr/>
                    <a:lstStyle/>
                    <a:p>
                      <a:r>
                        <a:rPr kumimoji="1" lang="ja-JP" altLang="en-US" sz="1200"/>
                        <a:t>不特定多数の方が都度利用</a:t>
                      </a:r>
                    </a:p>
                  </a:txBody>
                  <a:tcPr/>
                </a:tc>
                <a:tc>
                  <a:txBody>
                    <a:bodyPr/>
                    <a:lstStyle/>
                    <a:p>
                      <a:r>
                        <a:rPr kumimoji="1" lang="ja-JP" altLang="en-US" sz="1200"/>
                        <a:t>同じ利用者が継続的に利用</a:t>
                      </a:r>
                    </a:p>
                  </a:txBody>
                  <a:tcPr/>
                </a:tc>
                <a:extLst>
                  <a:ext uri="{0D108BD9-81ED-4DB2-BD59-A6C34878D82A}">
                    <a16:rowId xmlns:a16="http://schemas.microsoft.com/office/drawing/2014/main" val="3844200693"/>
                  </a:ext>
                </a:extLst>
              </a:tr>
              <a:tr h="370840">
                <a:tc>
                  <a:txBody>
                    <a:bodyPr/>
                    <a:lstStyle/>
                    <a:p>
                      <a:r>
                        <a:rPr kumimoji="1" lang="ja-JP" altLang="en-US" sz="1200"/>
                        <a:t>目的</a:t>
                      </a:r>
                    </a:p>
                  </a:txBody>
                  <a:tcPr/>
                </a:tc>
                <a:tc>
                  <a:txBody>
                    <a:bodyPr/>
                    <a:lstStyle/>
                    <a:p>
                      <a:r>
                        <a:rPr kumimoji="1" lang="ja-JP" altLang="en-US" sz="1200"/>
                        <a:t>ユーザサポートのコスト削減</a:t>
                      </a:r>
                      <a:endParaRPr kumimoji="1" lang="en-US" altLang="ja-JP" sz="1200" dirty="0"/>
                    </a:p>
                    <a:p>
                      <a:endParaRPr kumimoji="1" lang="ja-JP" altLang="en-US" sz="1200"/>
                    </a:p>
                  </a:txBody>
                  <a:tcPr/>
                </a:tc>
                <a:tc>
                  <a:txBody>
                    <a:bodyPr/>
                    <a:lstStyle/>
                    <a:p>
                      <a:r>
                        <a:rPr kumimoji="1" lang="ja-JP" altLang="en-US" sz="1200"/>
                        <a:t>対話そのものが目的となる</a:t>
                      </a:r>
                    </a:p>
                  </a:txBody>
                  <a:tcPr/>
                </a:tc>
                <a:extLst>
                  <a:ext uri="{0D108BD9-81ED-4DB2-BD59-A6C34878D82A}">
                    <a16:rowId xmlns:a16="http://schemas.microsoft.com/office/drawing/2014/main" val="765549811"/>
                  </a:ext>
                </a:extLst>
              </a:tr>
              <a:tr h="370840">
                <a:tc>
                  <a:txBody>
                    <a:bodyPr/>
                    <a:lstStyle/>
                    <a:p>
                      <a:r>
                        <a:rPr kumimoji="1" lang="ja-JP" altLang="en-US" sz="1200"/>
                        <a:t>対話の内容</a:t>
                      </a:r>
                    </a:p>
                  </a:txBody>
                  <a:tcPr/>
                </a:tc>
                <a:tc>
                  <a:txBody>
                    <a:bodyPr/>
                    <a:lstStyle/>
                    <a:p>
                      <a:r>
                        <a:rPr kumimoji="1" lang="ja-JP" altLang="en-US" sz="1200"/>
                        <a:t>・</a:t>
                      </a:r>
                      <a:r>
                        <a:rPr kumimoji="1" lang="en-US" altLang="ja-JP" sz="1200" dirty="0"/>
                        <a:t>FAQ</a:t>
                      </a:r>
                      <a:r>
                        <a:rPr kumimoji="1" lang="ja-JP" altLang="en-US" sz="1200"/>
                        <a:t>など、利用者の欲しい情報を聞き出す</a:t>
                      </a:r>
                      <a:endParaRPr kumimoji="1" lang="en-US" altLang="ja-JP" sz="1200" dirty="0"/>
                    </a:p>
                    <a:p>
                      <a:r>
                        <a:rPr kumimoji="1" lang="ja-JP" altLang="en-US" sz="1200"/>
                        <a:t>・チケットの予約、ピザのオーダなど</a:t>
                      </a:r>
                      <a:endParaRPr kumimoji="1" lang="en-US" altLang="ja-JP" sz="1200" dirty="0"/>
                    </a:p>
                    <a:p>
                      <a:r>
                        <a:rPr kumimoji="1" lang="ja-JP" altLang="en-US" sz="1200"/>
                        <a:t>いずれも正確性を重視</a:t>
                      </a:r>
                    </a:p>
                  </a:txBody>
                  <a:tcPr/>
                </a:tc>
                <a:tc>
                  <a:txBody>
                    <a:bodyPr/>
                    <a:lstStyle/>
                    <a:p>
                      <a:r>
                        <a:rPr kumimoji="1" lang="ja-JP" altLang="en-US" sz="1200"/>
                        <a:t>利用者が話したいこと</a:t>
                      </a:r>
                      <a:endParaRPr kumimoji="1" lang="en-US" altLang="ja-JP" sz="1200" dirty="0"/>
                    </a:p>
                    <a:p>
                      <a:r>
                        <a:rPr kumimoji="1" lang="ja-JP" altLang="en-US" sz="1200"/>
                        <a:t>相槌、同意、繰り返しによって、会話をつなげる（コーチングスキル）</a:t>
                      </a:r>
                      <a:endParaRPr kumimoji="1" lang="en-US" altLang="ja-JP" sz="1200" dirty="0"/>
                    </a:p>
                    <a:p>
                      <a:r>
                        <a:rPr kumimoji="1" lang="ja-JP" altLang="en-US" sz="1200"/>
                        <a:t>正確性よりも多様性を重視</a:t>
                      </a:r>
                    </a:p>
                  </a:txBody>
                  <a:tcPr/>
                </a:tc>
                <a:extLst>
                  <a:ext uri="{0D108BD9-81ED-4DB2-BD59-A6C34878D82A}">
                    <a16:rowId xmlns:a16="http://schemas.microsoft.com/office/drawing/2014/main" val="2257316495"/>
                  </a:ext>
                </a:extLst>
              </a:tr>
              <a:tr h="370840">
                <a:tc>
                  <a:txBody>
                    <a:bodyPr/>
                    <a:lstStyle/>
                    <a:p>
                      <a:r>
                        <a:rPr kumimoji="1" lang="ja-JP" altLang="en-US" sz="1200"/>
                        <a:t>対話の実現方法</a:t>
                      </a:r>
                    </a:p>
                  </a:txBody>
                  <a:tcPr/>
                </a:tc>
                <a:tc>
                  <a:txBody>
                    <a:bodyPr/>
                    <a:lstStyle/>
                    <a:p>
                      <a:r>
                        <a:rPr kumimoji="1" lang="ja-JP" altLang="en-US" sz="1200"/>
                        <a:t>意図推定</a:t>
                      </a:r>
                      <a:r>
                        <a:rPr kumimoji="1" lang="en-US" altLang="ja-JP" sz="1200" dirty="0"/>
                        <a:t>(keyword</a:t>
                      </a:r>
                      <a:r>
                        <a:rPr kumimoji="1" lang="ja-JP" altLang="en-US" sz="1200"/>
                        <a:t>抽出</a:t>
                      </a:r>
                      <a:r>
                        <a:rPr kumimoji="1" lang="en-US" altLang="ja-JP" sz="1200" dirty="0"/>
                        <a:t>,Classification)</a:t>
                      </a:r>
                      <a:r>
                        <a:rPr kumimoji="1" lang="ja-JP" altLang="en-US" sz="1200"/>
                        <a:t>＋シナリオ</a:t>
                      </a:r>
                    </a:p>
                  </a:txBody>
                  <a:tcPr/>
                </a:tc>
                <a:tc>
                  <a:txBody>
                    <a:bodyPr/>
                    <a:lstStyle/>
                    <a:p>
                      <a:r>
                        <a:rPr kumimoji="1" lang="ja-JP" altLang="en-US" sz="1200"/>
                        <a:t>応答生成</a:t>
                      </a:r>
                      <a:r>
                        <a:rPr kumimoji="1" lang="en-US" altLang="ja-JP" sz="1200" dirty="0"/>
                        <a:t>(text2text generation)</a:t>
                      </a:r>
                      <a:endParaRPr kumimoji="1" lang="ja-JP" altLang="en-US" sz="1200"/>
                    </a:p>
                  </a:txBody>
                  <a:tcPr/>
                </a:tc>
                <a:extLst>
                  <a:ext uri="{0D108BD9-81ED-4DB2-BD59-A6C34878D82A}">
                    <a16:rowId xmlns:a16="http://schemas.microsoft.com/office/drawing/2014/main" val="2848392130"/>
                  </a:ext>
                </a:extLst>
              </a:tr>
              <a:tr h="370840">
                <a:tc>
                  <a:txBody>
                    <a:bodyPr/>
                    <a:lstStyle/>
                    <a:p>
                      <a:r>
                        <a:rPr kumimoji="1" lang="ja-JP" altLang="en-US" sz="1200"/>
                        <a:t>対話の解析</a:t>
                      </a:r>
                    </a:p>
                  </a:txBody>
                  <a:tcPr/>
                </a:tc>
                <a:tc>
                  <a:txBody>
                    <a:bodyPr/>
                    <a:lstStyle/>
                    <a:p>
                      <a:r>
                        <a:rPr kumimoji="1" lang="ja-JP" altLang="en-US" sz="1200"/>
                        <a:t>自社サービス、製品へのフィードバックに利用</a:t>
                      </a:r>
                      <a:endParaRPr kumimoji="1" lang="en-US" altLang="ja-JP" sz="1200" dirty="0"/>
                    </a:p>
                    <a:p>
                      <a:r>
                        <a:rPr kumimoji="1" lang="ja-JP" altLang="en-US" sz="1200"/>
                        <a:t>傾向分析</a:t>
                      </a:r>
                    </a:p>
                  </a:txBody>
                  <a:tcPr/>
                </a:tc>
                <a:tc>
                  <a:txBody>
                    <a:bodyPr/>
                    <a:lstStyle/>
                    <a:p>
                      <a:r>
                        <a:rPr kumimoji="1" lang="ja-JP" altLang="en-US" sz="1200"/>
                        <a:t>利用者の対話履歴の変化を捉える</a:t>
                      </a:r>
                      <a:endParaRPr kumimoji="1" lang="en-US" altLang="ja-JP" sz="1200" dirty="0"/>
                    </a:p>
                    <a:p>
                      <a:r>
                        <a:rPr kumimoji="1" lang="ja-JP" altLang="en-US" sz="1200"/>
                        <a:t>話題推定＋ポジネガ判定</a:t>
                      </a:r>
                    </a:p>
                  </a:txBody>
                  <a:tcPr/>
                </a:tc>
                <a:extLst>
                  <a:ext uri="{0D108BD9-81ED-4DB2-BD59-A6C34878D82A}">
                    <a16:rowId xmlns:a16="http://schemas.microsoft.com/office/drawing/2014/main" val="2523085119"/>
                  </a:ext>
                </a:extLst>
              </a:tr>
              <a:tr h="370840">
                <a:tc>
                  <a:txBody>
                    <a:bodyPr/>
                    <a:lstStyle/>
                    <a:p>
                      <a:r>
                        <a:rPr kumimoji="1" lang="ja-JP" altLang="en-US" sz="1200"/>
                        <a:t>欠点</a:t>
                      </a:r>
                    </a:p>
                  </a:txBody>
                  <a:tcPr/>
                </a:tc>
                <a:tc>
                  <a:txBody>
                    <a:bodyPr/>
                    <a:lstStyle/>
                    <a:p>
                      <a:r>
                        <a:rPr kumimoji="1" lang="ja-JP" altLang="en-US" sz="1200"/>
                        <a:t>不特定の話題には応答できない。</a:t>
                      </a:r>
                      <a:endParaRPr kumimoji="1" lang="en-US" altLang="ja-JP" sz="1200" dirty="0"/>
                    </a:p>
                    <a:p>
                      <a:r>
                        <a:rPr kumimoji="1" lang="ja-JP" altLang="en-US" sz="1200"/>
                        <a:t>無目的のシナリオを作ることができない</a:t>
                      </a:r>
                      <a:endParaRPr kumimoji="1" lang="en-US" altLang="ja-JP" sz="1200" dirty="0"/>
                    </a:p>
                  </a:txBody>
                  <a:tcPr/>
                </a:tc>
                <a:tc>
                  <a:txBody>
                    <a:bodyPr/>
                    <a:lstStyle/>
                    <a:p>
                      <a:r>
                        <a:rPr kumimoji="1" lang="ja-JP" altLang="en-US" sz="1200"/>
                        <a:t>意図しない応答、間違った応答をすることがある。倫理的にも正しくないことがある。</a:t>
                      </a:r>
                      <a:endParaRPr kumimoji="1" lang="en-US" altLang="ja-JP" sz="1200" dirty="0"/>
                    </a:p>
                    <a:p>
                      <a:r>
                        <a:rPr kumimoji="1" lang="ja-JP" altLang="en-US" sz="1200"/>
                        <a:t>→　継続的学習によって改善の見込みはある。</a:t>
                      </a:r>
                      <a:endParaRPr kumimoji="1" lang="en-US" altLang="ja-JP" sz="1200" dirty="0"/>
                    </a:p>
                  </a:txBody>
                  <a:tcPr/>
                </a:tc>
                <a:extLst>
                  <a:ext uri="{0D108BD9-81ED-4DB2-BD59-A6C34878D82A}">
                    <a16:rowId xmlns:a16="http://schemas.microsoft.com/office/drawing/2014/main" val="91759516"/>
                  </a:ext>
                </a:extLst>
              </a:tr>
            </a:tbl>
          </a:graphicData>
        </a:graphic>
      </p:graphicFrame>
      <p:sp>
        <p:nvSpPr>
          <p:cNvPr id="2" name="タイトル 1"/>
          <p:cNvSpPr>
            <a:spLocks noGrp="1"/>
          </p:cNvSpPr>
          <p:nvPr>
            <p:ph type="title"/>
          </p:nvPr>
        </p:nvSpPr>
        <p:spPr/>
        <p:txBody>
          <a:bodyPr>
            <a:normAutofit fontScale="90000"/>
          </a:bodyPr>
          <a:lstStyle/>
          <a:p>
            <a:r>
              <a:rPr lang="ja-JP" altLang="en-US"/>
              <a:t>システム構成の変更</a:t>
            </a:r>
            <a:endParaRPr kumimoji="1" lang="ja-JP" altLang="en-US" dirty="0"/>
          </a:p>
        </p:txBody>
      </p:sp>
      <p:sp>
        <p:nvSpPr>
          <p:cNvPr id="18" name="テキスト ボックス 17">
            <a:extLst>
              <a:ext uri="{FF2B5EF4-FFF2-40B4-BE49-F238E27FC236}">
                <a16:creationId xmlns:a16="http://schemas.microsoft.com/office/drawing/2014/main" id="{FF1037C4-2A8D-8825-8CB2-6F08D666DD60}"/>
              </a:ext>
            </a:extLst>
          </p:cNvPr>
          <p:cNvSpPr txBox="1"/>
          <p:nvPr/>
        </p:nvSpPr>
        <p:spPr>
          <a:xfrm>
            <a:off x="440099" y="959840"/>
            <a:ext cx="7366119" cy="861774"/>
          </a:xfrm>
          <a:prstGeom prst="rect">
            <a:avLst/>
          </a:prstGeom>
          <a:noFill/>
        </p:spPr>
        <p:txBody>
          <a:bodyPr wrap="none" rtlCol="0">
            <a:spAutoFit/>
          </a:bodyPr>
          <a:lstStyle/>
          <a:p>
            <a:r>
              <a:rPr lang="ja-JP" altLang="en-US" sz="1600"/>
              <a:t>創業当初は</a:t>
            </a:r>
            <a:r>
              <a:rPr kumimoji="1" lang="ja-JP" altLang="en-US" sz="1600"/>
              <a:t>、既存のチャットボットシステムをベースに開発。</a:t>
            </a:r>
            <a:endParaRPr kumimoji="1" lang="en-US" altLang="ja-JP" sz="1600" dirty="0"/>
          </a:p>
          <a:p>
            <a:r>
              <a:rPr kumimoji="1" lang="ja-JP" altLang="en-US" sz="1600"/>
              <a:t>実証実験を経て、企業様への提案活動を行なったが、いくつかの</a:t>
            </a:r>
            <a:r>
              <a:rPr lang="ja-JP" altLang="en-US" sz="1600"/>
              <a:t>課題が発覚。</a:t>
            </a:r>
            <a:endParaRPr lang="en-US" altLang="ja-JP" sz="1600" dirty="0"/>
          </a:p>
          <a:p>
            <a:r>
              <a:rPr lang="ja-JP" altLang="en-US" sz="1600"/>
              <a:t>独自の</a:t>
            </a:r>
            <a:r>
              <a:rPr lang="ja-JP" altLang="en-US" sz="1600" u="sng"/>
              <a:t>応答生成モデル</a:t>
            </a:r>
            <a:r>
              <a:rPr lang="ja-JP" altLang="en-US" sz="1600"/>
              <a:t>と、</a:t>
            </a:r>
            <a:r>
              <a:rPr lang="ja-JP" altLang="en-US" sz="1600" u="sng"/>
              <a:t>対話分析モデル</a:t>
            </a:r>
            <a:r>
              <a:rPr lang="ja-JP" altLang="en-US" sz="1600"/>
              <a:t>を開発する方針に変更</a:t>
            </a:r>
            <a:endParaRPr lang="en-US" altLang="ja-JP" sz="1600" dirty="0"/>
          </a:p>
        </p:txBody>
      </p:sp>
      <p:sp>
        <p:nvSpPr>
          <p:cNvPr id="26" name="テキスト ボックス 25">
            <a:extLst>
              <a:ext uri="{FF2B5EF4-FFF2-40B4-BE49-F238E27FC236}">
                <a16:creationId xmlns:a16="http://schemas.microsoft.com/office/drawing/2014/main" id="{ACCD8E37-3A37-2A4F-BE8E-1E44B6400290}"/>
              </a:ext>
            </a:extLst>
          </p:cNvPr>
          <p:cNvSpPr txBox="1"/>
          <p:nvPr/>
        </p:nvSpPr>
        <p:spPr>
          <a:xfrm>
            <a:off x="461490" y="5805264"/>
            <a:ext cx="7758855" cy="584775"/>
          </a:xfrm>
          <a:prstGeom prst="rect">
            <a:avLst/>
          </a:prstGeom>
          <a:noFill/>
        </p:spPr>
        <p:txBody>
          <a:bodyPr wrap="none" rtlCol="0">
            <a:spAutoFit/>
          </a:bodyPr>
          <a:lstStyle/>
          <a:p>
            <a:r>
              <a:rPr lang="ja-JP" altLang="en-US" sz="1600"/>
              <a:t>当社単独でのサービス提供は難しく、このような自然言語モデルを必要とされる</a:t>
            </a:r>
            <a:endParaRPr lang="en-US" altLang="ja-JP" sz="1600" dirty="0"/>
          </a:p>
          <a:p>
            <a:r>
              <a:rPr lang="ja-JP" altLang="en-US" sz="1600"/>
              <a:t>サービス事業者様ごとに、モデルのカスタマイズをすることを考えています。</a:t>
            </a:r>
            <a:endParaRPr lang="en-US" altLang="ja-JP" sz="1600" dirty="0"/>
          </a:p>
        </p:txBody>
      </p:sp>
    </p:spTree>
    <p:extLst>
      <p:ext uri="{BB962C8B-B14F-4D97-AF65-F5344CB8AC3E}">
        <p14:creationId xmlns:p14="http://schemas.microsoft.com/office/powerpoint/2010/main" val="8531413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FD327D-ADDA-193A-9375-35AD01AA2005}"/>
              </a:ext>
            </a:extLst>
          </p:cNvPr>
          <p:cNvSpPr>
            <a:spLocks noGrp="1"/>
          </p:cNvSpPr>
          <p:nvPr>
            <p:ph type="title"/>
          </p:nvPr>
        </p:nvSpPr>
        <p:spPr/>
        <p:txBody>
          <a:bodyPr>
            <a:normAutofit fontScale="90000"/>
          </a:bodyPr>
          <a:lstStyle/>
          <a:p>
            <a:r>
              <a:rPr kumimoji="1" lang="ja-JP" altLang="en-US"/>
              <a:t>ご参考）対話解析イメージ</a:t>
            </a:r>
          </a:p>
        </p:txBody>
      </p:sp>
      <p:pic>
        <p:nvPicPr>
          <p:cNvPr id="1026" name="Picture 2">
            <a:extLst>
              <a:ext uri="{FF2B5EF4-FFF2-40B4-BE49-F238E27FC236}">
                <a16:creationId xmlns:a16="http://schemas.microsoft.com/office/drawing/2014/main" id="{6AF5412D-63B8-4B35-ACFC-9B2F1A32C2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909638"/>
            <a:ext cx="9144000" cy="5038725"/>
          </a:xfrm>
          <a:prstGeom prst="rect">
            <a:avLst/>
          </a:prstGeom>
          <a:noFill/>
          <a:extLst>
            <a:ext uri="{909E8E84-426E-40DD-AFC4-6F175D3DCCD1}">
              <a14:hiddenFill xmlns:a14="http://schemas.microsoft.com/office/drawing/2010/main">
                <a:solidFill>
                  <a:srgbClr val="FFFFFF"/>
                </a:solidFill>
              </a14:hiddenFill>
            </a:ext>
          </a:extLst>
        </p:spPr>
      </p:pic>
      <p:cxnSp>
        <p:nvCxnSpPr>
          <p:cNvPr id="7" name="直線コネクタ 6">
            <a:extLst>
              <a:ext uri="{FF2B5EF4-FFF2-40B4-BE49-F238E27FC236}">
                <a16:creationId xmlns:a16="http://schemas.microsoft.com/office/drawing/2014/main" id="{55947766-E390-DB05-C0A3-8E52FF827AB5}"/>
              </a:ext>
            </a:extLst>
          </p:cNvPr>
          <p:cNvCxnSpPr>
            <a:cxnSpLocks/>
          </p:cNvCxnSpPr>
          <p:nvPr/>
        </p:nvCxnSpPr>
        <p:spPr>
          <a:xfrm>
            <a:off x="6516216" y="5733256"/>
            <a:ext cx="1944216"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30BEE7E9-1F47-6EE4-E82D-AA32CEE0334A}"/>
              </a:ext>
            </a:extLst>
          </p:cNvPr>
          <p:cNvCxnSpPr>
            <a:cxnSpLocks/>
          </p:cNvCxnSpPr>
          <p:nvPr/>
        </p:nvCxnSpPr>
        <p:spPr>
          <a:xfrm>
            <a:off x="467544" y="3789040"/>
            <a:ext cx="1656184"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921B6A82-5B31-30FC-D520-40A87B0529EE}"/>
              </a:ext>
            </a:extLst>
          </p:cNvPr>
          <p:cNvCxnSpPr>
            <a:cxnSpLocks/>
          </p:cNvCxnSpPr>
          <p:nvPr/>
        </p:nvCxnSpPr>
        <p:spPr>
          <a:xfrm>
            <a:off x="3275856" y="2924944"/>
            <a:ext cx="1152128"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0D3ADC44-B4B4-F0C9-5DA9-A7AB2F82FDBD}"/>
              </a:ext>
            </a:extLst>
          </p:cNvPr>
          <p:cNvSpPr txBox="1"/>
          <p:nvPr/>
        </p:nvSpPr>
        <p:spPr>
          <a:xfrm>
            <a:off x="5076056" y="6487452"/>
            <a:ext cx="3166251" cy="253916"/>
          </a:xfrm>
          <a:prstGeom prst="rect">
            <a:avLst/>
          </a:prstGeom>
          <a:noFill/>
        </p:spPr>
        <p:txBody>
          <a:bodyPr wrap="none" rtlCol="0">
            <a:spAutoFit/>
          </a:bodyPr>
          <a:lstStyle/>
          <a:p>
            <a:r>
              <a:rPr kumimoji="1" lang="en-US" altLang="ja-JP" sz="1050" dirty="0"/>
              <a:t>※768</a:t>
            </a:r>
            <a:r>
              <a:rPr kumimoji="1" lang="ja-JP" altLang="en-US" sz="1050"/>
              <a:t>次元の言語ベクトルを</a:t>
            </a:r>
            <a:r>
              <a:rPr kumimoji="1" lang="en-US" altLang="ja-JP" sz="1050" dirty="0"/>
              <a:t>2</a:t>
            </a:r>
            <a:r>
              <a:rPr kumimoji="1" lang="ja-JP" altLang="en-US" sz="1050"/>
              <a:t>次元に変換して</a:t>
            </a:r>
            <a:r>
              <a:rPr kumimoji="1" lang="en-US" altLang="ja-JP" sz="1050" dirty="0"/>
              <a:t>plot</a:t>
            </a:r>
            <a:endParaRPr kumimoji="1" lang="ja-JP" altLang="en-US" sz="1050"/>
          </a:p>
        </p:txBody>
      </p:sp>
    </p:spTree>
    <p:extLst>
      <p:ext uri="{BB962C8B-B14F-4D97-AF65-F5344CB8AC3E}">
        <p14:creationId xmlns:p14="http://schemas.microsoft.com/office/powerpoint/2010/main" val="1984862928"/>
      </p:ext>
    </p:extLst>
  </p:cSld>
  <p:clrMapOvr>
    <a:masterClrMapping/>
  </p:clrMapOvr>
</p:sld>
</file>

<file path=ppt/theme/theme1.xml><?xml version="1.0" encoding="utf-8"?>
<a:theme xmlns:a="http://schemas.openxmlformats.org/drawingml/2006/main" name="Office ​​テーマ">
  <a:themeElements>
    <a:clrScheme name="青">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18751</TotalTime>
  <Words>974</Words>
  <Application>Microsoft Macintosh PowerPoint</Application>
  <PresentationFormat>画面に合わせる (4:3)</PresentationFormat>
  <Paragraphs>104</Paragraphs>
  <Slides>6</Slides>
  <Notes>4</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6</vt:i4>
      </vt:variant>
    </vt:vector>
  </HeadingPairs>
  <TitlesOfParts>
    <vt:vector size="11" baseType="lpstr">
      <vt:lpstr>Meiryo UI</vt:lpstr>
      <vt:lpstr>游ゴシック</vt:lpstr>
      <vt:lpstr>Arial</vt:lpstr>
      <vt:lpstr>Calibri</vt:lpstr>
      <vt:lpstr>Office ​​テーマ</vt:lpstr>
      <vt:lpstr>事業紹介</vt:lpstr>
      <vt:lpstr>会社概要</vt:lpstr>
      <vt:lpstr>開発の動機</vt:lpstr>
      <vt:lpstr>当社が目指す「健康エージェント」</vt:lpstr>
      <vt:lpstr>システム構成の変更</vt:lpstr>
      <vt:lpstr>ご参考）対話解析イメージ</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太田 和代</dc:creator>
  <cp:lastModifiedBy>太田 和代</cp:lastModifiedBy>
  <cp:revision>126</cp:revision>
  <cp:lastPrinted>2019-06-08T08:07:16Z</cp:lastPrinted>
  <dcterms:created xsi:type="dcterms:W3CDTF">2018-04-17T00:34:44Z</dcterms:created>
  <dcterms:modified xsi:type="dcterms:W3CDTF">2022-05-07T07:47:03Z</dcterms:modified>
</cp:coreProperties>
</file>