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月別売上・利益（億円）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売上高（億円）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10.8</c:v>
                </c:pt>
                <c:pt idx="1">
                  <c:v>11.5</c:v>
                </c:pt>
                <c:pt idx="2">
                  <c:v>12.9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営業利益（億円）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</c:v>
                </c:pt>
                <c:pt idx="1">
                  <c:v>1.6</c:v>
                </c:pt>
                <c:pt idx="2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部門別売上構成（2024Q1）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Q1売上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製品事業</c:v>
                </c:pt>
                <c:pt idx="1">
                  <c:v>サービス事業</c:v>
                </c:pt>
                <c:pt idx="2">
                  <c:v>保守・サポート</c:v>
                </c:pt>
                <c:pt idx="3">
                  <c:v>新規事業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18.2</c:v>
                </c:pt>
                <c:pt idx="1">
                  <c:v>9.5</c:v>
                </c:pt>
                <c:pt idx="2">
                  <c:v>5.8</c:v>
                </c:pt>
                <c:pt idx="3">
                  <c:v>1.7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2024年度 第1四半期 事業実績報告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2024年7月10日　取締役会資料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エグゼクティブサマリー　─ 2024Q1 業績ハイライト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2651760" cy="2011680"/>
          </a:xfrm>
          <a:prstGeom prst="rect">
            <a:avLst/>
          </a:prstGeom>
          <a:solidFill>
            <a:srgbClr val="F0F6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売上高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467F"/>
                </a:solidFill>
              </a:rPr>
              <a:t>35.2億円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8000"/>
                </a:solidFill>
              </a:rPr>
              <a:t>前年同期比 +12.4%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</a:rPr>
              <a:t>目標比+2.1%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914400"/>
            <a:ext cx="2651760" cy="2011680"/>
          </a:xfrm>
          <a:prstGeom prst="rect">
            <a:avLst/>
          </a:prstGeom>
          <a:solidFill>
            <a:srgbClr val="F0F6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05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営業利益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467F"/>
                </a:solidFill>
              </a:rPr>
              <a:t>4.8億円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8000"/>
                </a:solidFill>
              </a:rPr>
              <a:t>前年同期比 +18.7%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</a:rPr>
              <a:t>目標比+0.8%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914400"/>
            <a:ext cx="2651760" cy="2011680"/>
          </a:xfrm>
          <a:prstGeom prst="rect">
            <a:avLst/>
          </a:prstGeom>
          <a:solidFill>
            <a:srgbClr val="F0F6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005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営業利益率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467F"/>
                </a:solidFill>
              </a:rPr>
              <a:t>13.6%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8000"/>
                </a:solidFill>
              </a:rPr>
              <a:t>前年同期比 +0.7pt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</a:rPr>
              <a:t>目標差±0pt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914400"/>
            <a:ext cx="2651760" cy="2011680"/>
          </a:xfrm>
          <a:prstGeom prst="rect">
            <a:avLst/>
          </a:prstGeom>
          <a:solidFill>
            <a:srgbClr val="F0F6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005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</a:rPr>
              <a:t>受注高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371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467F"/>
                </a:solidFill>
              </a:rPr>
              <a:t>41.5億円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8000"/>
                </a:solidFill>
              </a:rPr>
              <a:t>前年同期比 +9.2%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40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</a:rPr>
              <a:t>目標比+3.5%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00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▼ 主要トピック
① AI 営業支援ツール導入により既存顧客への提案件数が前四半期比+34%
② 新製品「ProSeries X」の受注が計画の150%で好調なスタート
③ 原材料費上昇（前年比+8%）の影響を生産効率化でカバー。COGS率改善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月次売上高・営業利益の推移（2024年4〜6月）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【分析コメント】
・4月：期初の立ち上がりは想定通り。新年度予算の顧客稟議完了待ちの案件多数。
・5月：大型案件（A社 3.5億）の受注完了でジャンプアップ。
・6月：四半期末効果もあり最高売上。利益率も改善し通期目標に対し順調。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部門別売上構成と前年同期比較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9144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137160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6858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部門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Q1実績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前年Q1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前年比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通期計画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製品事業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18.2億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15.8億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72.0億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サービス事業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8.9億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38.0億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保守・サポート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5.8億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23.0億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新規事業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+183.3%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7.0億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35.2億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30.9億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140.0億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</a:rPr>
              <a:t>課題・リスクと第2四半期見通し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82828"/>
                </a:solidFill>
              </a:rPr>
              <a:t>【主要課題・リスク】
① 半導体不足による製品製造リードタイム延長（影響額：最大 2億円）
② 競合他社の新製品投入による価格競争激化リスク（国内市場）
③ 為替影響：円安進行により輸入原材料費が増加傾向（Q2影響 +0.5億円見込み）
【Q2 売上高・営業利益予測】
売上高目標：37.5億円（+6.5% vs Q1）
営業利益目標：5.3億円（+10.4% vs Q1）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